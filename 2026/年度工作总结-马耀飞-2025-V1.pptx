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5" r:id="rId2"/>
    <p:sldMasterId id="2147483697" r:id="rId3"/>
  </p:sldMasterIdLst>
  <p:notesMasterIdLst>
    <p:notesMasterId r:id="rId14"/>
  </p:notesMasterIdLst>
  <p:handoutMasterIdLst>
    <p:handoutMasterId r:id="rId15"/>
  </p:handoutMasterIdLst>
  <p:sldIdLst>
    <p:sldId id="477" r:id="rId4"/>
    <p:sldId id="458" r:id="rId5"/>
    <p:sldId id="467" r:id="rId6"/>
    <p:sldId id="490" r:id="rId7"/>
    <p:sldId id="476" r:id="rId8"/>
    <p:sldId id="489" r:id="rId9"/>
    <p:sldId id="486" r:id="rId10"/>
    <p:sldId id="487" r:id="rId11"/>
    <p:sldId id="473" r:id="rId12"/>
    <p:sldId id="478" r:id="rId13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4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7D"/>
    <a:srgbClr val="3C629C"/>
    <a:srgbClr val="005DA2"/>
    <a:srgbClr val="F8F9F9"/>
    <a:srgbClr val="F9FAFA"/>
    <a:srgbClr val="EAEAEA"/>
    <a:srgbClr val="ED0000"/>
    <a:srgbClr val="EDF30B"/>
    <a:srgbClr val="F0F0F0"/>
    <a:srgbClr val="2B2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35" autoAdjust="0"/>
    <p:restoredTop sz="75024" autoAdjust="0"/>
  </p:normalViewPr>
  <p:slideViewPr>
    <p:cSldViewPr>
      <p:cViewPr>
        <p:scale>
          <a:sx n="110" d="100"/>
          <a:sy n="110" d="100"/>
        </p:scale>
        <p:origin x="58" y="45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051" y="69"/>
      </p:cViewPr>
      <p:guideLst>
        <p:guide orient="horz" pos="284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E2FFAB-F2E9-4D94-8792-A8C0AB28265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1E1B9DB-0B62-4013-A95D-A23DCFE97DB4}">
      <dgm:prSet phldrT="[文本]"/>
      <dgm:spPr/>
      <dgm:t>
        <a:bodyPr/>
        <a:lstStyle/>
        <a:p>
          <a:r>
            <a:rPr lang="zh-CN" altLang="en-US" dirty="0"/>
            <a:t>可行性研究</a:t>
          </a:r>
        </a:p>
      </dgm:t>
    </dgm:pt>
    <dgm:pt modelId="{93E945B8-C7B0-405C-9DCB-2CBB01F66D3E}" type="parTrans" cxnId="{1C340668-90B7-40F2-BDB8-51AAF215CC08}">
      <dgm:prSet/>
      <dgm:spPr/>
      <dgm:t>
        <a:bodyPr/>
        <a:lstStyle/>
        <a:p>
          <a:endParaRPr lang="zh-CN" altLang="en-US"/>
        </a:p>
      </dgm:t>
    </dgm:pt>
    <dgm:pt modelId="{FEC5207E-0DF2-4E8C-A219-EA8BA887C092}" type="sibTrans" cxnId="{1C340668-90B7-40F2-BDB8-51AAF215CC08}">
      <dgm:prSet/>
      <dgm:spPr/>
      <dgm:t>
        <a:bodyPr/>
        <a:lstStyle/>
        <a:p>
          <a:endParaRPr lang="zh-CN" altLang="en-US"/>
        </a:p>
      </dgm:t>
    </dgm:pt>
    <dgm:pt modelId="{636C96CB-B7C2-4264-A442-20EF8400237A}">
      <dgm:prSet phldrT="[文本]"/>
      <dgm:spPr/>
      <dgm:t>
        <a:bodyPr/>
        <a:lstStyle/>
        <a:p>
          <a:r>
            <a:rPr lang="zh-CN" altLang="en-US" dirty="0"/>
            <a:t>方向调整</a:t>
          </a:r>
        </a:p>
      </dgm:t>
    </dgm:pt>
    <dgm:pt modelId="{7B96B774-13D0-4597-9F17-AFE3CD7C9ACD}" type="parTrans" cxnId="{FA2AF190-A905-499E-A5D2-0179952D2C14}">
      <dgm:prSet/>
      <dgm:spPr/>
      <dgm:t>
        <a:bodyPr/>
        <a:lstStyle/>
        <a:p>
          <a:endParaRPr lang="zh-CN" altLang="en-US"/>
        </a:p>
      </dgm:t>
    </dgm:pt>
    <dgm:pt modelId="{ABA1DC72-69AF-4549-806C-06A2C0655F13}" type="sibTrans" cxnId="{FA2AF190-A905-499E-A5D2-0179952D2C14}">
      <dgm:prSet/>
      <dgm:spPr/>
      <dgm:t>
        <a:bodyPr/>
        <a:lstStyle/>
        <a:p>
          <a:endParaRPr lang="zh-CN" altLang="en-US"/>
        </a:p>
      </dgm:t>
    </dgm:pt>
    <dgm:pt modelId="{CBE47657-895D-42D7-A525-6FEFB8F84D71}">
      <dgm:prSet phldrT="[文本]"/>
      <dgm:spPr/>
      <dgm:t>
        <a:bodyPr/>
        <a:lstStyle/>
        <a:p>
          <a:r>
            <a:rPr lang="zh-CN" altLang="en-US" dirty="0"/>
            <a:t>需求调研与分析</a:t>
          </a:r>
        </a:p>
      </dgm:t>
    </dgm:pt>
    <dgm:pt modelId="{B35FEEA4-1605-4C96-99D7-73F3B3630C53}" type="parTrans" cxnId="{BE963959-E08C-4CAF-B531-08949FD4FD60}">
      <dgm:prSet/>
      <dgm:spPr/>
      <dgm:t>
        <a:bodyPr/>
        <a:lstStyle/>
        <a:p>
          <a:endParaRPr lang="zh-CN" altLang="en-US"/>
        </a:p>
      </dgm:t>
    </dgm:pt>
    <dgm:pt modelId="{CDB29D8B-8FDD-42C3-A596-BC253AEB7817}" type="sibTrans" cxnId="{BE963959-E08C-4CAF-B531-08949FD4FD60}">
      <dgm:prSet/>
      <dgm:spPr/>
      <dgm:t>
        <a:bodyPr/>
        <a:lstStyle/>
        <a:p>
          <a:endParaRPr lang="zh-CN" altLang="en-US"/>
        </a:p>
      </dgm:t>
    </dgm:pt>
    <dgm:pt modelId="{370979F4-1647-4D64-A1B3-6FD2C2CDDA48}">
      <dgm:prSet phldrT="[文本]"/>
      <dgm:spPr/>
      <dgm:t>
        <a:bodyPr/>
        <a:lstStyle/>
        <a:p>
          <a:r>
            <a:rPr lang="zh-CN" altLang="en-US" dirty="0"/>
            <a:t>方案设计与实践</a:t>
          </a:r>
        </a:p>
      </dgm:t>
    </dgm:pt>
    <dgm:pt modelId="{5AD584F3-FAEE-42AE-9E62-2929F165D727}" type="parTrans" cxnId="{A87ABC1B-6A1B-4E51-ACBA-26520D971B13}">
      <dgm:prSet/>
      <dgm:spPr/>
      <dgm:t>
        <a:bodyPr/>
        <a:lstStyle/>
        <a:p>
          <a:endParaRPr lang="zh-CN" altLang="en-US"/>
        </a:p>
      </dgm:t>
    </dgm:pt>
    <dgm:pt modelId="{63E178AD-F1C6-4F5D-AAA8-309347143E66}" type="sibTrans" cxnId="{A87ABC1B-6A1B-4E51-ACBA-26520D971B13}">
      <dgm:prSet/>
      <dgm:spPr/>
      <dgm:t>
        <a:bodyPr/>
        <a:lstStyle/>
        <a:p>
          <a:endParaRPr lang="zh-CN" altLang="en-US"/>
        </a:p>
      </dgm:t>
    </dgm:pt>
    <dgm:pt modelId="{095ACA95-3B29-4CB1-A710-340BBB9DE02A}">
      <dgm:prSet/>
      <dgm:spPr/>
      <dgm:t>
        <a:bodyPr/>
        <a:lstStyle/>
        <a:p>
          <a:r>
            <a:rPr lang="zh-CN" altLang="en-US" dirty="0"/>
            <a:t>优化</a:t>
          </a:r>
        </a:p>
      </dgm:t>
    </dgm:pt>
    <dgm:pt modelId="{CDB9BC4C-9F6D-48E4-9E7F-44F87E50E1BC}" type="parTrans" cxnId="{9D0B182D-79F9-44B3-8A81-DC8A6AC36FA8}">
      <dgm:prSet/>
      <dgm:spPr/>
      <dgm:t>
        <a:bodyPr/>
        <a:lstStyle/>
        <a:p>
          <a:endParaRPr lang="zh-CN" altLang="en-US"/>
        </a:p>
      </dgm:t>
    </dgm:pt>
    <dgm:pt modelId="{17462720-B015-46D3-99D5-8E955CA3C4C9}" type="sibTrans" cxnId="{9D0B182D-79F9-44B3-8A81-DC8A6AC36FA8}">
      <dgm:prSet/>
      <dgm:spPr/>
      <dgm:t>
        <a:bodyPr/>
        <a:lstStyle/>
        <a:p>
          <a:endParaRPr lang="zh-CN" altLang="en-US"/>
        </a:p>
      </dgm:t>
    </dgm:pt>
    <dgm:pt modelId="{F6EC3E53-29E3-4F99-BEA0-F46D8453A091}" type="pres">
      <dgm:prSet presAssocID="{35E2FFAB-F2E9-4D94-8792-A8C0AB28265A}" presName="Name0" presStyleCnt="0">
        <dgm:presLayoutVars>
          <dgm:dir/>
          <dgm:resizeHandles val="exact"/>
        </dgm:presLayoutVars>
      </dgm:prSet>
      <dgm:spPr/>
    </dgm:pt>
    <dgm:pt modelId="{DFC9FC88-D48C-4566-9835-F23B30D9FB1E}" type="pres">
      <dgm:prSet presAssocID="{81E1B9DB-0B62-4013-A95D-A23DCFE97DB4}" presName="node" presStyleLbl="node1" presStyleIdx="0" presStyleCnt="5" custLinFactNeighborX="-23652" custLinFactNeighborY="1954">
        <dgm:presLayoutVars>
          <dgm:bulletEnabled val="1"/>
        </dgm:presLayoutVars>
      </dgm:prSet>
      <dgm:spPr/>
    </dgm:pt>
    <dgm:pt modelId="{4E34FB01-B348-437B-B288-EA019ADD2685}" type="pres">
      <dgm:prSet presAssocID="{FEC5207E-0DF2-4E8C-A219-EA8BA887C092}" presName="sibTrans" presStyleLbl="sibTrans2D1" presStyleIdx="0" presStyleCnt="4"/>
      <dgm:spPr/>
    </dgm:pt>
    <dgm:pt modelId="{2CE7306F-DAF0-4D9D-8A03-28211CC0DF27}" type="pres">
      <dgm:prSet presAssocID="{FEC5207E-0DF2-4E8C-A219-EA8BA887C092}" presName="connectorText" presStyleLbl="sibTrans2D1" presStyleIdx="0" presStyleCnt="4"/>
      <dgm:spPr/>
    </dgm:pt>
    <dgm:pt modelId="{064F071B-9948-43AE-AC35-1D7F6875FDCA}" type="pres">
      <dgm:prSet presAssocID="{636C96CB-B7C2-4264-A442-20EF8400237A}" presName="node" presStyleLbl="node1" presStyleIdx="1" presStyleCnt="5">
        <dgm:presLayoutVars>
          <dgm:bulletEnabled val="1"/>
        </dgm:presLayoutVars>
      </dgm:prSet>
      <dgm:spPr/>
    </dgm:pt>
    <dgm:pt modelId="{F5412BE5-A079-43F9-A010-0E5641D106DD}" type="pres">
      <dgm:prSet presAssocID="{ABA1DC72-69AF-4549-806C-06A2C0655F13}" presName="sibTrans" presStyleLbl="sibTrans2D1" presStyleIdx="1" presStyleCnt="4"/>
      <dgm:spPr/>
    </dgm:pt>
    <dgm:pt modelId="{FDEEA1E1-0E65-41CE-B0FC-6D6B42B48FAF}" type="pres">
      <dgm:prSet presAssocID="{ABA1DC72-69AF-4549-806C-06A2C0655F13}" presName="connectorText" presStyleLbl="sibTrans2D1" presStyleIdx="1" presStyleCnt="4"/>
      <dgm:spPr/>
    </dgm:pt>
    <dgm:pt modelId="{C04EA689-23F2-4544-8085-0523EFD645D0}" type="pres">
      <dgm:prSet presAssocID="{CBE47657-895D-42D7-A525-6FEFB8F84D71}" presName="node" presStyleLbl="node1" presStyleIdx="2" presStyleCnt="5" custLinFactNeighborX="4261" custLinFactNeighborY="606">
        <dgm:presLayoutVars>
          <dgm:bulletEnabled val="1"/>
        </dgm:presLayoutVars>
      </dgm:prSet>
      <dgm:spPr/>
    </dgm:pt>
    <dgm:pt modelId="{2B81DACA-BE61-48E3-B10B-9A57EA344779}" type="pres">
      <dgm:prSet presAssocID="{CDB29D8B-8FDD-42C3-A596-BC253AEB7817}" presName="sibTrans" presStyleLbl="sibTrans2D1" presStyleIdx="2" presStyleCnt="4"/>
      <dgm:spPr/>
    </dgm:pt>
    <dgm:pt modelId="{2E9FCAC4-0A6E-406E-AD06-E1BC1A7D2FFE}" type="pres">
      <dgm:prSet presAssocID="{CDB29D8B-8FDD-42C3-A596-BC253AEB7817}" presName="connectorText" presStyleLbl="sibTrans2D1" presStyleIdx="2" presStyleCnt="4"/>
      <dgm:spPr/>
    </dgm:pt>
    <dgm:pt modelId="{D069F06B-9A8D-4C0E-8E91-B676E7CBA7F4}" type="pres">
      <dgm:prSet presAssocID="{370979F4-1647-4D64-A1B3-6FD2C2CDDA48}" presName="node" presStyleLbl="node1" presStyleIdx="3" presStyleCnt="5">
        <dgm:presLayoutVars>
          <dgm:bulletEnabled val="1"/>
        </dgm:presLayoutVars>
      </dgm:prSet>
      <dgm:spPr/>
    </dgm:pt>
    <dgm:pt modelId="{B797CEA0-025B-4199-8497-DD43071A6D39}" type="pres">
      <dgm:prSet presAssocID="{63E178AD-F1C6-4F5D-AAA8-309347143E66}" presName="sibTrans" presStyleLbl="sibTrans2D1" presStyleIdx="3" presStyleCnt="4"/>
      <dgm:spPr/>
    </dgm:pt>
    <dgm:pt modelId="{CAEB1275-FE14-471A-8186-1CA9CCE7CE20}" type="pres">
      <dgm:prSet presAssocID="{63E178AD-F1C6-4F5D-AAA8-309347143E66}" presName="connectorText" presStyleLbl="sibTrans2D1" presStyleIdx="3" presStyleCnt="4"/>
      <dgm:spPr/>
    </dgm:pt>
    <dgm:pt modelId="{885FC344-DD5C-41F4-91DD-E6767D092B97}" type="pres">
      <dgm:prSet presAssocID="{095ACA95-3B29-4CB1-A710-340BBB9DE02A}" presName="node" presStyleLbl="node1" presStyleIdx="4" presStyleCnt="5" custLinFactNeighborX="-4070" custLinFactNeighborY="-1569">
        <dgm:presLayoutVars>
          <dgm:bulletEnabled val="1"/>
        </dgm:presLayoutVars>
      </dgm:prSet>
      <dgm:spPr/>
    </dgm:pt>
  </dgm:ptLst>
  <dgm:cxnLst>
    <dgm:cxn modelId="{A87ABC1B-6A1B-4E51-ACBA-26520D971B13}" srcId="{35E2FFAB-F2E9-4D94-8792-A8C0AB28265A}" destId="{370979F4-1647-4D64-A1B3-6FD2C2CDDA48}" srcOrd="3" destOrd="0" parTransId="{5AD584F3-FAEE-42AE-9E62-2929F165D727}" sibTransId="{63E178AD-F1C6-4F5D-AAA8-309347143E66}"/>
    <dgm:cxn modelId="{6BED3027-3745-4E6C-9D89-571416058018}" type="presOf" srcId="{CDB29D8B-8FDD-42C3-A596-BC253AEB7817}" destId="{2E9FCAC4-0A6E-406E-AD06-E1BC1A7D2FFE}" srcOrd="1" destOrd="0" presId="urn:microsoft.com/office/officeart/2005/8/layout/process1"/>
    <dgm:cxn modelId="{9D0B182D-79F9-44B3-8A81-DC8A6AC36FA8}" srcId="{35E2FFAB-F2E9-4D94-8792-A8C0AB28265A}" destId="{095ACA95-3B29-4CB1-A710-340BBB9DE02A}" srcOrd="4" destOrd="0" parTransId="{CDB9BC4C-9F6D-48E4-9E7F-44F87E50E1BC}" sibTransId="{17462720-B015-46D3-99D5-8E955CA3C4C9}"/>
    <dgm:cxn modelId="{18032E31-F5E4-4BA1-9B3C-0D0A7F256F63}" type="presOf" srcId="{636C96CB-B7C2-4264-A442-20EF8400237A}" destId="{064F071B-9948-43AE-AC35-1D7F6875FDCA}" srcOrd="0" destOrd="0" presId="urn:microsoft.com/office/officeart/2005/8/layout/process1"/>
    <dgm:cxn modelId="{1C340668-90B7-40F2-BDB8-51AAF215CC08}" srcId="{35E2FFAB-F2E9-4D94-8792-A8C0AB28265A}" destId="{81E1B9DB-0B62-4013-A95D-A23DCFE97DB4}" srcOrd="0" destOrd="0" parTransId="{93E945B8-C7B0-405C-9DCB-2CBB01F66D3E}" sibTransId="{FEC5207E-0DF2-4E8C-A219-EA8BA887C092}"/>
    <dgm:cxn modelId="{1DC75B4B-7E6A-421F-94F0-F2E016AC7A29}" type="presOf" srcId="{ABA1DC72-69AF-4549-806C-06A2C0655F13}" destId="{F5412BE5-A079-43F9-A010-0E5641D106DD}" srcOrd="0" destOrd="0" presId="urn:microsoft.com/office/officeart/2005/8/layout/process1"/>
    <dgm:cxn modelId="{3881D46D-F8BD-4BE6-A5A8-44A0B5007EC5}" type="presOf" srcId="{CBE47657-895D-42D7-A525-6FEFB8F84D71}" destId="{C04EA689-23F2-4544-8085-0523EFD645D0}" srcOrd="0" destOrd="0" presId="urn:microsoft.com/office/officeart/2005/8/layout/process1"/>
    <dgm:cxn modelId="{7FC42E73-4097-4DF5-9DF4-9A00DC84F770}" type="presOf" srcId="{ABA1DC72-69AF-4549-806C-06A2C0655F13}" destId="{FDEEA1E1-0E65-41CE-B0FC-6D6B42B48FAF}" srcOrd="1" destOrd="0" presId="urn:microsoft.com/office/officeart/2005/8/layout/process1"/>
    <dgm:cxn modelId="{BE963959-E08C-4CAF-B531-08949FD4FD60}" srcId="{35E2FFAB-F2E9-4D94-8792-A8C0AB28265A}" destId="{CBE47657-895D-42D7-A525-6FEFB8F84D71}" srcOrd="2" destOrd="0" parTransId="{B35FEEA4-1605-4C96-99D7-73F3B3630C53}" sibTransId="{CDB29D8B-8FDD-42C3-A596-BC253AEB7817}"/>
    <dgm:cxn modelId="{FA2AF190-A905-499E-A5D2-0179952D2C14}" srcId="{35E2FFAB-F2E9-4D94-8792-A8C0AB28265A}" destId="{636C96CB-B7C2-4264-A442-20EF8400237A}" srcOrd="1" destOrd="0" parTransId="{7B96B774-13D0-4597-9F17-AFE3CD7C9ACD}" sibTransId="{ABA1DC72-69AF-4549-806C-06A2C0655F13}"/>
    <dgm:cxn modelId="{21BD509C-BD43-4E1E-B061-FACDDB574D9F}" type="presOf" srcId="{095ACA95-3B29-4CB1-A710-340BBB9DE02A}" destId="{885FC344-DD5C-41F4-91DD-E6767D092B97}" srcOrd="0" destOrd="0" presId="urn:microsoft.com/office/officeart/2005/8/layout/process1"/>
    <dgm:cxn modelId="{5EE383AA-774C-41A2-9206-6D1B2DD92776}" type="presOf" srcId="{35E2FFAB-F2E9-4D94-8792-A8C0AB28265A}" destId="{F6EC3E53-29E3-4F99-BEA0-F46D8453A091}" srcOrd="0" destOrd="0" presId="urn:microsoft.com/office/officeart/2005/8/layout/process1"/>
    <dgm:cxn modelId="{24AAFFAC-1E4F-4DE2-9652-81D1935B0D66}" type="presOf" srcId="{81E1B9DB-0B62-4013-A95D-A23DCFE97DB4}" destId="{DFC9FC88-D48C-4566-9835-F23B30D9FB1E}" srcOrd="0" destOrd="0" presId="urn:microsoft.com/office/officeart/2005/8/layout/process1"/>
    <dgm:cxn modelId="{77B9BFAE-DA57-4E8E-85DD-82D4C7F1AD02}" type="presOf" srcId="{63E178AD-F1C6-4F5D-AAA8-309347143E66}" destId="{B797CEA0-025B-4199-8497-DD43071A6D39}" srcOrd="0" destOrd="0" presId="urn:microsoft.com/office/officeart/2005/8/layout/process1"/>
    <dgm:cxn modelId="{12C98AB4-68CE-4805-8360-5876550DD5FA}" type="presOf" srcId="{FEC5207E-0DF2-4E8C-A219-EA8BA887C092}" destId="{2CE7306F-DAF0-4D9D-8A03-28211CC0DF27}" srcOrd="1" destOrd="0" presId="urn:microsoft.com/office/officeart/2005/8/layout/process1"/>
    <dgm:cxn modelId="{F0849CD6-8342-42E2-95E6-7D9F46D4BC73}" type="presOf" srcId="{CDB29D8B-8FDD-42C3-A596-BC253AEB7817}" destId="{2B81DACA-BE61-48E3-B10B-9A57EA344779}" srcOrd="0" destOrd="0" presId="urn:microsoft.com/office/officeart/2005/8/layout/process1"/>
    <dgm:cxn modelId="{A27388EE-8559-405F-8B9A-84785A8F7F65}" type="presOf" srcId="{63E178AD-F1C6-4F5D-AAA8-309347143E66}" destId="{CAEB1275-FE14-471A-8186-1CA9CCE7CE20}" srcOrd="1" destOrd="0" presId="urn:microsoft.com/office/officeart/2005/8/layout/process1"/>
    <dgm:cxn modelId="{D1C0DEF3-0102-4AB6-B58D-B7C1A7350AA5}" type="presOf" srcId="{FEC5207E-0DF2-4E8C-A219-EA8BA887C092}" destId="{4E34FB01-B348-437B-B288-EA019ADD2685}" srcOrd="0" destOrd="0" presId="urn:microsoft.com/office/officeart/2005/8/layout/process1"/>
    <dgm:cxn modelId="{A880D0F6-4660-4E9B-A85B-433085B18306}" type="presOf" srcId="{370979F4-1647-4D64-A1B3-6FD2C2CDDA48}" destId="{D069F06B-9A8D-4C0E-8E91-B676E7CBA7F4}" srcOrd="0" destOrd="0" presId="urn:microsoft.com/office/officeart/2005/8/layout/process1"/>
    <dgm:cxn modelId="{D58AC4F9-0815-46B9-9B0E-B6D15ED76C55}" type="presParOf" srcId="{F6EC3E53-29E3-4F99-BEA0-F46D8453A091}" destId="{DFC9FC88-D48C-4566-9835-F23B30D9FB1E}" srcOrd="0" destOrd="0" presId="urn:microsoft.com/office/officeart/2005/8/layout/process1"/>
    <dgm:cxn modelId="{FE763B62-C803-400B-9F8C-0F0DA6EF119E}" type="presParOf" srcId="{F6EC3E53-29E3-4F99-BEA0-F46D8453A091}" destId="{4E34FB01-B348-437B-B288-EA019ADD2685}" srcOrd="1" destOrd="0" presId="urn:microsoft.com/office/officeart/2005/8/layout/process1"/>
    <dgm:cxn modelId="{BE2EC5CF-29AD-4976-8413-9C6D641A513A}" type="presParOf" srcId="{4E34FB01-B348-437B-B288-EA019ADD2685}" destId="{2CE7306F-DAF0-4D9D-8A03-28211CC0DF27}" srcOrd="0" destOrd="0" presId="urn:microsoft.com/office/officeart/2005/8/layout/process1"/>
    <dgm:cxn modelId="{6EE65E73-C3A2-4303-B460-5434EBAAFF7B}" type="presParOf" srcId="{F6EC3E53-29E3-4F99-BEA0-F46D8453A091}" destId="{064F071B-9948-43AE-AC35-1D7F6875FDCA}" srcOrd="2" destOrd="0" presId="urn:microsoft.com/office/officeart/2005/8/layout/process1"/>
    <dgm:cxn modelId="{E62836D6-39FF-4E46-A74E-C894BBBB3A98}" type="presParOf" srcId="{F6EC3E53-29E3-4F99-BEA0-F46D8453A091}" destId="{F5412BE5-A079-43F9-A010-0E5641D106DD}" srcOrd="3" destOrd="0" presId="urn:microsoft.com/office/officeart/2005/8/layout/process1"/>
    <dgm:cxn modelId="{54A94A19-83BE-4012-AEA9-8163F607ACF6}" type="presParOf" srcId="{F5412BE5-A079-43F9-A010-0E5641D106DD}" destId="{FDEEA1E1-0E65-41CE-B0FC-6D6B42B48FAF}" srcOrd="0" destOrd="0" presId="urn:microsoft.com/office/officeart/2005/8/layout/process1"/>
    <dgm:cxn modelId="{423B7DBC-DC2C-43C5-9A34-4679C8B13646}" type="presParOf" srcId="{F6EC3E53-29E3-4F99-BEA0-F46D8453A091}" destId="{C04EA689-23F2-4544-8085-0523EFD645D0}" srcOrd="4" destOrd="0" presId="urn:microsoft.com/office/officeart/2005/8/layout/process1"/>
    <dgm:cxn modelId="{89BEE4D7-3F5D-4E1D-90AD-C2ED2556B92B}" type="presParOf" srcId="{F6EC3E53-29E3-4F99-BEA0-F46D8453A091}" destId="{2B81DACA-BE61-48E3-B10B-9A57EA344779}" srcOrd="5" destOrd="0" presId="urn:microsoft.com/office/officeart/2005/8/layout/process1"/>
    <dgm:cxn modelId="{1C6F806C-32E7-4314-87F5-BCD10BD7410C}" type="presParOf" srcId="{2B81DACA-BE61-48E3-B10B-9A57EA344779}" destId="{2E9FCAC4-0A6E-406E-AD06-E1BC1A7D2FFE}" srcOrd="0" destOrd="0" presId="urn:microsoft.com/office/officeart/2005/8/layout/process1"/>
    <dgm:cxn modelId="{9994DE5B-29C4-42E1-A140-30B204C3F906}" type="presParOf" srcId="{F6EC3E53-29E3-4F99-BEA0-F46D8453A091}" destId="{D069F06B-9A8D-4C0E-8E91-B676E7CBA7F4}" srcOrd="6" destOrd="0" presId="urn:microsoft.com/office/officeart/2005/8/layout/process1"/>
    <dgm:cxn modelId="{5976B0AB-4C77-4174-9CE9-83C4AF3C6C26}" type="presParOf" srcId="{F6EC3E53-29E3-4F99-BEA0-F46D8453A091}" destId="{B797CEA0-025B-4199-8497-DD43071A6D39}" srcOrd="7" destOrd="0" presId="urn:microsoft.com/office/officeart/2005/8/layout/process1"/>
    <dgm:cxn modelId="{9D128D13-F70A-462E-968E-76E8C51E2019}" type="presParOf" srcId="{B797CEA0-025B-4199-8497-DD43071A6D39}" destId="{CAEB1275-FE14-471A-8186-1CA9CCE7CE20}" srcOrd="0" destOrd="0" presId="urn:microsoft.com/office/officeart/2005/8/layout/process1"/>
    <dgm:cxn modelId="{EC1F0519-5C76-476E-B19F-024FFC08DBDC}" type="presParOf" srcId="{F6EC3E53-29E3-4F99-BEA0-F46D8453A091}" destId="{885FC344-DD5C-41F4-91DD-E6767D092B9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9FC88-D48C-4566-9835-F23B30D9FB1E}">
      <dsp:nvSpPr>
        <dsp:cNvPr id="0" name=""/>
        <dsp:cNvSpPr/>
      </dsp:nvSpPr>
      <dsp:spPr>
        <a:xfrm>
          <a:off x="0" y="257174"/>
          <a:ext cx="1204420" cy="72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可行性研究</a:t>
          </a:r>
        </a:p>
      </dsp:txBody>
      <dsp:txXfrm>
        <a:off x="21166" y="278340"/>
        <a:ext cx="1162088" cy="680320"/>
      </dsp:txXfrm>
    </dsp:sp>
    <dsp:sp modelId="{4E34FB01-B348-437B-B288-EA019ADD2685}">
      <dsp:nvSpPr>
        <dsp:cNvPr id="0" name=""/>
        <dsp:cNvSpPr/>
      </dsp:nvSpPr>
      <dsp:spPr>
        <a:xfrm rot="21571278">
          <a:off x="1325829" y="462031"/>
          <a:ext cx="257405" cy="2986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325830" y="522093"/>
        <a:ext cx="180184" cy="179218"/>
      </dsp:txXfrm>
    </dsp:sp>
    <dsp:sp modelId="{064F071B-9948-43AE-AC35-1D7F6875FDCA}">
      <dsp:nvSpPr>
        <dsp:cNvPr id="0" name=""/>
        <dsp:cNvSpPr/>
      </dsp:nvSpPr>
      <dsp:spPr>
        <a:xfrm>
          <a:off x="1690074" y="243054"/>
          <a:ext cx="1204420" cy="72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方向调整</a:t>
          </a:r>
        </a:p>
      </dsp:txBody>
      <dsp:txXfrm>
        <a:off x="1711240" y="264220"/>
        <a:ext cx="1162088" cy="680320"/>
      </dsp:txXfrm>
    </dsp:sp>
    <dsp:sp modelId="{F5412BE5-A079-43F9-A010-0E5641D106DD}">
      <dsp:nvSpPr>
        <dsp:cNvPr id="0" name=""/>
        <dsp:cNvSpPr/>
      </dsp:nvSpPr>
      <dsp:spPr>
        <a:xfrm rot="8821">
          <a:off x="3020068" y="457241"/>
          <a:ext cx="266218" cy="2986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3020068" y="516878"/>
        <a:ext cx="186353" cy="179218"/>
      </dsp:txXfrm>
    </dsp:sp>
    <dsp:sp modelId="{C04EA689-23F2-4544-8085-0523EFD645D0}">
      <dsp:nvSpPr>
        <dsp:cNvPr id="0" name=""/>
        <dsp:cNvSpPr/>
      </dsp:nvSpPr>
      <dsp:spPr>
        <a:xfrm>
          <a:off x="3396791" y="247433"/>
          <a:ext cx="1204420" cy="72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需求调研与分析</a:t>
          </a:r>
        </a:p>
      </dsp:txBody>
      <dsp:txXfrm>
        <a:off x="3417957" y="268599"/>
        <a:ext cx="1162088" cy="680320"/>
      </dsp:txXfrm>
    </dsp:sp>
    <dsp:sp modelId="{2B81DACA-BE61-48E3-B10B-9A57EA344779}">
      <dsp:nvSpPr>
        <dsp:cNvPr id="0" name=""/>
        <dsp:cNvSpPr/>
      </dsp:nvSpPr>
      <dsp:spPr>
        <a:xfrm rot="21590962">
          <a:off x="4716522" y="457203"/>
          <a:ext cx="244458" cy="2986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4716522" y="517038"/>
        <a:ext cx="171121" cy="179218"/>
      </dsp:txXfrm>
    </dsp:sp>
    <dsp:sp modelId="{D069F06B-9A8D-4C0E-8E91-B676E7CBA7F4}">
      <dsp:nvSpPr>
        <dsp:cNvPr id="0" name=""/>
        <dsp:cNvSpPr/>
      </dsp:nvSpPr>
      <dsp:spPr>
        <a:xfrm>
          <a:off x="5062452" y="243054"/>
          <a:ext cx="1204420" cy="72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方案设计与实践</a:t>
          </a:r>
        </a:p>
      </dsp:txBody>
      <dsp:txXfrm>
        <a:off x="5083618" y="264220"/>
        <a:ext cx="1162088" cy="680320"/>
      </dsp:txXfrm>
    </dsp:sp>
    <dsp:sp modelId="{B797CEA0-025B-4199-8497-DD43071A6D39}">
      <dsp:nvSpPr>
        <dsp:cNvPr id="0" name=""/>
        <dsp:cNvSpPr/>
      </dsp:nvSpPr>
      <dsp:spPr>
        <a:xfrm rot="21576612">
          <a:off x="6382410" y="449315"/>
          <a:ext cx="244950" cy="2986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6382411" y="509304"/>
        <a:ext cx="171465" cy="179218"/>
      </dsp:txXfrm>
    </dsp:sp>
    <dsp:sp modelId="{885FC344-DD5C-41F4-91DD-E6767D092B97}">
      <dsp:nvSpPr>
        <dsp:cNvPr id="0" name=""/>
        <dsp:cNvSpPr/>
      </dsp:nvSpPr>
      <dsp:spPr>
        <a:xfrm>
          <a:off x="6729033" y="231715"/>
          <a:ext cx="1204420" cy="72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优化</a:t>
          </a:r>
        </a:p>
      </dsp:txBody>
      <dsp:txXfrm>
        <a:off x="6750199" y="252881"/>
        <a:ext cx="1162088" cy="680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26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55577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6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5361" b="44474"/>
          <a:stretch>
            <a:fillRect/>
          </a:stretch>
        </p:blipFill>
        <p:spPr>
          <a:xfrm>
            <a:off x="7505992" y="300572"/>
            <a:ext cx="1080120" cy="190623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755650" y="700088"/>
            <a:ext cx="7831138" cy="4175125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请简述个人教育经历</a:t>
            </a:r>
            <a:r>
              <a:rPr lang="en-US" altLang="zh-CN" dirty="0"/>
              <a:t>/</a:t>
            </a:r>
            <a:r>
              <a:rPr lang="zh-CN" altLang="en-US" dirty="0"/>
              <a:t>职业经历</a:t>
            </a:r>
            <a:r>
              <a:rPr lang="en-US" altLang="zh-CN" dirty="0"/>
              <a:t>/</a:t>
            </a:r>
            <a:r>
              <a:rPr lang="zh-CN" altLang="en-US" dirty="0"/>
              <a:t>岗位职责等（建议不超过</a:t>
            </a:r>
            <a:r>
              <a:rPr lang="en-US" altLang="zh-CN" dirty="0"/>
              <a:t>1</a:t>
            </a:r>
            <a:r>
              <a:rPr lang="zh-CN" altLang="en-US" dirty="0"/>
              <a:t>分钟）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803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5557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755650" y="700088"/>
            <a:ext cx="7831138" cy="4175125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请陈述自己的专业能力，并运用</a:t>
            </a:r>
            <a:r>
              <a:rPr lang="en-US" altLang="zh-CN" dirty="0"/>
              <a:t>STAR</a:t>
            </a:r>
            <a:r>
              <a:rPr lang="zh-CN" altLang="en-US" dirty="0"/>
              <a:t>原则举证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404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5557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755650" y="700088"/>
            <a:ext cx="7831138" cy="4175125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请陈述自己的管理能力，并运用</a:t>
            </a:r>
            <a:r>
              <a:rPr lang="en-US" altLang="zh-CN" dirty="0"/>
              <a:t>STAR</a:t>
            </a:r>
            <a:r>
              <a:rPr lang="zh-CN" altLang="en-US" dirty="0"/>
              <a:t>原则举证第二级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55577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6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5361" b="44474"/>
          <a:stretch>
            <a:fillRect/>
          </a:stretch>
        </p:blipFill>
        <p:spPr>
          <a:xfrm>
            <a:off x="7505992" y="300572"/>
            <a:ext cx="1080120" cy="190623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755650" y="700088"/>
            <a:ext cx="7831138" cy="4175125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请陈述自己的业务贡献，并运用</a:t>
            </a:r>
            <a:r>
              <a:rPr lang="en-US" altLang="zh-CN" dirty="0"/>
              <a:t>STAR</a:t>
            </a:r>
            <a:r>
              <a:rPr lang="zh-CN" altLang="en-US" dirty="0"/>
              <a:t>原则举证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579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55577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6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5361" b="44474"/>
          <a:stretch>
            <a:fillRect/>
          </a:stretch>
        </p:blipFill>
        <p:spPr>
          <a:xfrm>
            <a:off x="7505992" y="300572"/>
            <a:ext cx="1080120" cy="190623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755650" y="700088"/>
            <a:ext cx="7831138" cy="4175125"/>
          </a:xfrm>
        </p:spPr>
        <p:txBody>
          <a:bodyPr>
            <a:norm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请确保规划内容可操作，可衡量，充分结合个人及团队现状进行深度思考。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07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45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07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9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7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548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96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38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787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32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931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10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038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06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13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286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422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681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5164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986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91B5C5C9-175E-4089-B651-D3FF737B033F}" type="datetimeFigureOut">
              <a:rPr lang="zh-CN" altLang="en-US" sz="1350" smtClean="0">
                <a:solidFill>
                  <a:prstClr val="black"/>
                </a:solidFill>
              </a:rPr>
              <a:pPr defTabSz="685800"/>
              <a:t>2026/1/19</a:t>
            </a:fld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 defTabSz="685800"/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685800"/>
            <a:fld id="{ED7E9C49-D84E-4C81-8501-B5B09B33EAFD}" type="slidenum">
              <a:rPr lang="zh-CN" altLang="en-US" sz="1350" smtClean="0">
                <a:solidFill>
                  <a:prstClr val="black"/>
                </a:solidFill>
              </a:rPr>
              <a:pPr defTabSz="685800"/>
              <a:t>‹#›</a:t>
            </a:fld>
            <a:endParaRPr lang="zh-CN" alt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5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  <p:sldLayoutId id="2147483683" r:id="rId3"/>
    <p:sldLayoutId id="2147483650" r:id="rId4"/>
    <p:sldLayoutId id="2147483682" r:id="rId5"/>
    <p:sldLayoutId id="2147483671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76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7070" y="1909864"/>
            <a:ext cx="8399207" cy="70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2960">
              <a:lnSpc>
                <a:spcPct val="150000"/>
              </a:lnSpc>
              <a:spcAft>
                <a:spcPts val="540"/>
              </a:spcAft>
              <a:defRPr/>
            </a:pPr>
            <a:r>
              <a:rPr lang="en-US" altLang="zh-CN" sz="3000" b="1" kern="0" cap="all" spc="-113" dirty="0">
                <a:ln w="9000" cmpd="sng">
                  <a:solidFill>
                    <a:srgbClr val="FFC000">
                      <a:shade val="50000"/>
                      <a:satMod val="120000"/>
                      <a:alpha val="0"/>
                    </a:srgbClr>
                  </a:solidFill>
                  <a:prstDash val="solid"/>
                </a:ln>
                <a:solidFill>
                  <a:srgbClr val="00327D"/>
                </a:solidFill>
                <a:effectLst>
                  <a:reflection blurRad="12700" stA="28000" endPos="45000" dist="1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3000" b="1" kern="0" cap="all" spc="-113" dirty="0">
                <a:ln w="9000" cmpd="sng">
                  <a:solidFill>
                    <a:srgbClr val="FFC000">
                      <a:shade val="50000"/>
                      <a:satMod val="120000"/>
                      <a:alpha val="0"/>
                    </a:srgbClr>
                  </a:solidFill>
                  <a:prstDash val="solid"/>
                </a:ln>
                <a:solidFill>
                  <a:srgbClr val="00327D"/>
                </a:solidFill>
                <a:effectLst>
                  <a:reflection blurRad="12700" stA="28000" endPos="45000" dist="1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年终总结报告</a:t>
            </a:r>
            <a:endParaRPr lang="en-US" altLang="zh-CN" sz="3000" b="1" kern="0" cap="all" spc="-113" dirty="0">
              <a:ln w="9000" cmpd="sng">
                <a:solidFill>
                  <a:srgbClr val="FFC000">
                    <a:shade val="50000"/>
                    <a:satMod val="120000"/>
                    <a:alpha val="0"/>
                  </a:srgbClr>
                </a:solidFill>
                <a:prstDash val="solid"/>
              </a:ln>
              <a:solidFill>
                <a:srgbClr val="00327D"/>
              </a:solidFill>
              <a:effectLst>
                <a:reflection blurRad="12700" stA="28000" endPos="45000" dist="1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3888" y="2859782"/>
            <a:ext cx="2633642" cy="1170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22960">
              <a:lnSpc>
                <a:spcPct val="150000"/>
              </a:lnSpc>
              <a:defRPr/>
            </a:pPr>
            <a:r>
              <a:rPr lang="zh-CN" altLang="en-US" sz="162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中心：信息技术中心</a:t>
            </a:r>
            <a:endParaRPr lang="en-US" altLang="zh-CN" sz="1620" b="1" dirty="0">
              <a:solidFill>
                <a:srgbClr val="0032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22960">
              <a:lnSpc>
                <a:spcPct val="150000"/>
              </a:lnSpc>
              <a:defRPr/>
            </a:pPr>
            <a:r>
              <a:rPr lang="zh-CN" altLang="en-US" sz="162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部门：国内营销系统部门</a:t>
            </a:r>
            <a:endParaRPr lang="en-US" altLang="zh-CN" sz="1620" b="1" dirty="0">
              <a:solidFill>
                <a:srgbClr val="0032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22960">
              <a:lnSpc>
                <a:spcPct val="150000"/>
              </a:lnSpc>
              <a:defRPr/>
            </a:pPr>
            <a:r>
              <a:rPr lang="zh-CN" altLang="en-US" sz="162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汇报人：马耀飞</a:t>
            </a:r>
          </a:p>
        </p:txBody>
      </p:sp>
    </p:spTree>
    <p:extLst>
      <p:ext uri="{BB962C8B-B14F-4D97-AF65-F5344CB8AC3E}">
        <p14:creationId xmlns:p14="http://schemas.microsoft.com/office/powerpoint/2010/main" val="154628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755576" y="195486"/>
            <a:ext cx="702742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mpact" panose="020B0806030902050204" pitchFamily="34" charset="0"/>
              </a:rPr>
              <a:t>目录</a:t>
            </a:r>
            <a:endParaRPr lang="zh-CN" alt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C510EAA-4244-8405-9DA3-AA04E7062A84}"/>
              </a:ext>
            </a:extLst>
          </p:cNvPr>
          <p:cNvGrpSpPr/>
          <p:nvPr/>
        </p:nvGrpSpPr>
        <p:grpSpPr>
          <a:xfrm>
            <a:off x="2022575" y="1707654"/>
            <a:ext cx="4104096" cy="1940638"/>
            <a:chOff x="2411760" y="1203598"/>
            <a:chExt cx="4104096" cy="194063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09DC717-20E6-1D6B-118A-91B166849FDF}"/>
                </a:ext>
              </a:extLst>
            </p:cNvPr>
            <p:cNvGrpSpPr/>
            <p:nvPr/>
          </p:nvGrpSpPr>
          <p:grpSpPr>
            <a:xfrm>
              <a:off x="2411760" y="1203598"/>
              <a:ext cx="4104096" cy="504000"/>
              <a:chOff x="2412120" y="1419622"/>
              <a:chExt cx="4104096" cy="504000"/>
            </a:xfrm>
          </p:grpSpPr>
          <p:sp>
            <p:nvSpPr>
              <p:cNvPr id="35" name="圆角矩形 3">
                <a:extLst>
                  <a:ext uri="{FF2B5EF4-FFF2-40B4-BE49-F238E27FC236}">
                    <a16:creationId xmlns:a16="http://schemas.microsoft.com/office/drawing/2014/main" id="{3CD2863E-704E-8982-E9D0-B5DDF29C1E81}"/>
                  </a:ext>
                </a:extLst>
              </p:cNvPr>
              <p:cNvSpPr/>
              <p:nvPr/>
            </p:nvSpPr>
            <p:spPr>
              <a:xfrm>
                <a:off x="3276216" y="1419622"/>
                <a:ext cx="3240000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3374954" h="511044">
                    <a:moveTo>
                      <a:pt x="0" y="0"/>
                    </a:moveTo>
                    <a:lnTo>
                      <a:pt x="3312637" y="0"/>
                    </a:lnTo>
                    <a:cubicBezTo>
                      <a:pt x="3347054" y="0"/>
                      <a:pt x="3374954" y="27900"/>
                      <a:pt x="3374954" y="62317"/>
                    </a:cubicBezTo>
                    <a:lnTo>
                      <a:pt x="3374954" y="448727"/>
                    </a:lnTo>
                    <a:cubicBezTo>
                      <a:pt x="3374954" y="483144"/>
                      <a:pt x="3347054" y="511044"/>
                      <a:pt x="3312637" y="511044"/>
                    </a:cubicBezTo>
                    <a:lnTo>
                      <a:pt x="0" y="511044"/>
                    </a:lnTo>
                    <a:lnTo>
                      <a:pt x="255522" y="255522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99834" bIns="49917" rtlCol="0" anchor="ctr"/>
              <a:lstStyle/>
              <a:p>
                <a:pPr algn="ctr"/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工作总结</a:t>
                </a:r>
              </a:p>
            </p:txBody>
          </p:sp>
          <p:sp>
            <p:nvSpPr>
              <p:cNvPr id="36" name="圆角矩形 1">
                <a:extLst>
                  <a:ext uri="{FF2B5EF4-FFF2-40B4-BE49-F238E27FC236}">
                    <a16:creationId xmlns:a16="http://schemas.microsoft.com/office/drawing/2014/main" id="{D1B4CBF2-4278-A146-E0B6-770903302BE3}"/>
                  </a:ext>
                </a:extLst>
              </p:cNvPr>
              <p:cNvSpPr/>
              <p:nvPr/>
            </p:nvSpPr>
            <p:spPr>
              <a:xfrm>
                <a:off x="2412120" y="1419622"/>
                <a:ext cx="1008112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1008112" h="511044">
                    <a:moveTo>
                      <a:pt x="62317" y="0"/>
                    </a:moveTo>
                    <a:lnTo>
                      <a:pt x="432048" y="0"/>
                    </a:lnTo>
                    <a:lnTo>
                      <a:pt x="576064" y="0"/>
                    </a:lnTo>
                    <a:lnTo>
                      <a:pt x="752590" y="0"/>
                    </a:lnTo>
                    <a:lnTo>
                      <a:pt x="1008112" y="255522"/>
                    </a:lnTo>
                    <a:lnTo>
                      <a:pt x="752590" y="511044"/>
                    </a:lnTo>
                    <a:lnTo>
                      <a:pt x="576064" y="511044"/>
                    </a:lnTo>
                    <a:lnTo>
                      <a:pt x="432048" y="511044"/>
                    </a:lnTo>
                    <a:lnTo>
                      <a:pt x="62317" y="511044"/>
                    </a:lnTo>
                    <a:cubicBezTo>
                      <a:pt x="27900" y="511044"/>
                      <a:pt x="0" y="483144"/>
                      <a:pt x="0" y="448727"/>
                    </a:cubicBezTo>
                    <a:lnTo>
                      <a:pt x="0" y="62317"/>
                    </a:lnTo>
                    <a:cubicBezTo>
                      <a:pt x="0" y="27900"/>
                      <a:pt x="27900" y="0"/>
                      <a:pt x="62317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324000" bIns="49917"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63AED47F-21DC-44B3-9A19-F7AE245F6EDB}"/>
                </a:ext>
              </a:extLst>
            </p:cNvPr>
            <p:cNvGrpSpPr/>
            <p:nvPr/>
          </p:nvGrpSpPr>
          <p:grpSpPr>
            <a:xfrm>
              <a:off x="2411760" y="1921917"/>
              <a:ext cx="4104096" cy="504000"/>
              <a:chOff x="2412120" y="2204722"/>
              <a:chExt cx="4104096" cy="504000"/>
            </a:xfrm>
          </p:grpSpPr>
          <p:sp>
            <p:nvSpPr>
              <p:cNvPr id="38" name="圆角矩形 3">
                <a:extLst>
                  <a:ext uri="{FF2B5EF4-FFF2-40B4-BE49-F238E27FC236}">
                    <a16:creationId xmlns:a16="http://schemas.microsoft.com/office/drawing/2014/main" id="{2F0AB366-E78C-D5C9-5711-1C6D39C22AA8}"/>
                  </a:ext>
                </a:extLst>
              </p:cNvPr>
              <p:cNvSpPr/>
              <p:nvPr/>
            </p:nvSpPr>
            <p:spPr>
              <a:xfrm>
                <a:off x="3276216" y="2204722"/>
                <a:ext cx="3240000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3374954" h="511044">
                    <a:moveTo>
                      <a:pt x="0" y="0"/>
                    </a:moveTo>
                    <a:lnTo>
                      <a:pt x="3312637" y="0"/>
                    </a:lnTo>
                    <a:cubicBezTo>
                      <a:pt x="3347054" y="0"/>
                      <a:pt x="3374954" y="27900"/>
                      <a:pt x="3374954" y="62317"/>
                    </a:cubicBezTo>
                    <a:lnTo>
                      <a:pt x="3374954" y="448727"/>
                    </a:lnTo>
                    <a:cubicBezTo>
                      <a:pt x="3374954" y="483144"/>
                      <a:pt x="3347054" y="511044"/>
                      <a:pt x="3312637" y="511044"/>
                    </a:cubicBezTo>
                    <a:lnTo>
                      <a:pt x="0" y="511044"/>
                    </a:lnTo>
                    <a:lnTo>
                      <a:pt x="255522" y="255522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99834" bIns="49917" rtlCol="0" anchor="ctr"/>
              <a:lstStyle/>
              <a:p>
                <a:pPr algn="ctr"/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工作计划</a:t>
                </a:r>
                <a:endParaRPr lang="en-US" altLang="zh-CN" sz="1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圆角矩形 1">
                <a:extLst>
                  <a:ext uri="{FF2B5EF4-FFF2-40B4-BE49-F238E27FC236}">
                    <a16:creationId xmlns:a16="http://schemas.microsoft.com/office/drawing/2014/main" id="{C2EC2763-0F75-B3F6-7FE9-A423E27F74D2}"/>
                  </a:ext>
                </a:extLst>
              </p:cNvPr>
              <p:cNvSpPr/>
              <p:nvPr/>
            </p:nvSpPr>
            <p:spPr>
              <a:xfrm>
                <a:off x="2412120" y="2204722"/>
                <a:ext cx="1008112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1008112" h="511044">
                    <a:moveTo>
                      <a:pt x="62317" y="0"/>
                    </a:moveTo>
                    <a:lnTo>
                      <a:pt x="432048" y="0"/>
                    </a:lnTo>
                    <a:lnTo>
                      <a:pt x="576064" y="0"/>
                    </a:lnTo>
                    <a:lnTo>
                      <a:pt x="752590" y="0"/>
                    </a:lnTo>
                    <a:lnTo>
                      <a:pt x="1008112" y="255522"/>
                    </a:lnTo>
                    <a:lnTo>
                      <a:pt x="752590" y="511044"/>
                    </a:lnTo>
                    <a:lnTo>
                      <a:pt x="576064" y="511044"/>
                    </a:lnTo>
                    <a:lnTo>
                      <a:pt x="432048" y="511044"/>
                    </a:lnTo>
                    <a:lnTo>
                      <a:pt x="62317" y="511044"/>
                    </a:lnTo>
                    <a:cubicBezTo>
                      <a:pt x="27900" y="511044"/>
                      <a:pt x="0" y="483144"/>
                      <a:pt x="0" y="448727"/>
                    </a:cubicBezTo>
                    <a:lnTo>
                      <a:pt x="0" y="62317"/>
                    </a:lnTo>
                    <a:cubicBezTo>
                      <a:pt x="0" y="27900"/>
                      <a:pt x="27900" y="0"/>
                      <a:pt x="62317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324000" bIns="49917"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15A8EE81-61A5-036B-EAC2-9CAD4B8C1A00}"/>
                </a:ext>
              </a:extLst>
            </p:cNvPr>
            <p:cNvGrpSpPr/>
            <p:nvPr/>
          </p:nvGrpSpPr>
          <p:grpSpPr>
            <a:xfrm>
              <a:off x="2411760" y="2640236"/>
              <a:ext cx="4104096" cy="504000"/>
              <a:chOff x="2412120" y="2996810"/>
              <a:chExt cx="4104096" cy="504000"/>
            </a:xfrm>
          </p:grpSpPr>
          <p:sp>
            <p:nvSpPr>
              <p:cNvPr id="41" name="圆角矩形 3">
                <a:extLst>
                  <a:ext uri="{FF2B5EF4-FFF2-40B4-BE49-F238E27FC236}">
                    <a16:creationId xmlns:a16="http://schemas.microsoft.com/office/drawing/2014/main" id="{3EC7C87D-E39E-1DB2-CBD6-F2AE9809BF64}"/>
                  </a:ext>
                </a:extLst>
              </p:cNvPr>
              <p:cNvSpPr/>
              <p:nvPr/>
            </p:nvSpPr>
            <p:spPr>
              <a:xfrm>
                <a:off x="3276216" y="2996810"/>
                <a:ext cx="3240000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3374954" h="511044">
                    <a:moveTo>
                      <a:pt x="0" y="0"/>
                    </a:moveTo>
                    <a:lnTo>
                      <a:pt x="3312637" y="0"/>
                    </a:lnTo>
                    <a:cubicBezTo>
                      <a:pt x="3347054" y="0"/>
                      <a:pt x="3374954" y="27900"/>
                      <a:pt x="3374954" y="62317"/>
                    </a:cubicBezTo>
                    <a:lnTo>
                      <a:pt x="3374954" y="448727"/>
                    </a:lnTo>
                    <a:cubicBezTo>
                      <a:pt x="3374954" y="483144"/>
                      <a:pt x="3347054" y="511044"/>
                      <a:pt x="3312637" y="511044"/>
                    </a:cubicBezTo>
                    <a:lnTo>
                      <a:pt x="0" y="511044"/>
                    </a:lnTo>
                    <a:lnTo>
                      <a:pt x="255522" y="255522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99834" bIns="49917" rtlCol="0" anchor="ctr"/>
              <a:lstStyle/>
              <a:p>
                <a:pPr algn="ctr"/>
                <a:r>
                  <a:rPr lang="zh-CN" altLang="en-US" sz="17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不足和改善</a:t>
                </a:r>
                <a:endParaRPr lang="en-US" altLang="zh-CN" sz="17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圆角矩形 1">
                <a:extLst>
                  <a:ext uri="{FF2B5EF4-FFF2-40B4-BE49-F238E27FC236}">
                    <a16:creationId xmlns:a16="http://schemas.microsoft.com/office/drawing/2014/main" id="{39199C79-6CF1-D3C4-D37F-1280F72A2C42}"/>
                  </a:ext>
                </a:extLst>
              </p:cNvPr>
              <p:cNvSpPr/>
              <p:nvPr/>
            </p:nvSpPr>
            <p:spPr>
              <a:xfrm>
                <a:off x="2412120" y="2996810"/>
                <a:ext cx="1008112" cy="504000"/>
              </a:xfrm>
              <a:custGeom>
                <a:avLst/>
                <a:gdLst/>
                <a:ahLst/>
                <a:cxnLst/>
                <a:rect l="l" t="t" r="r" b="b"/>
                <a:pathLst>
                  <a:path w="1008112" h="511044">
                    <a:moveTo>
                      <a:pt x="62317" y="0"/>
                    </a:moveTo>
                    <a:lnTo>
                      <a:pt x="432048" y="0"/>
                    </a:lnTo>
                    <a:lnTo>
                      <a:pt x="576064" y="0"/>
                    </a:lnTo>
                    <a:lnTo>
                      <a:pt x="752590" y="0"/>
                    </a:lnTo>
                    <a:lnTo>
                      <a:pt x="1008112" y="255522"/>
                    </a:lnTo>
                    <a:lnTo>
                      <a:pt x="752590" y="511044"/>
                    </a:lnTo>
                    <a:lnTo>
                      <a:pt x="576064" y="511044"/>
                    </a:lnTo>
                    <a:lnTo>
                      <a:pt x="432048" y="511044"/>
                    </a:lnTo>
                    <a:lnTo>
                      <a:pt x="62317" y="511044"/>
                    </a:lnTo>
                    <a:cubicBezTo>
                      <a:pt x="27900" y="511044"/>
                      <a:pt x="0" y="483144"/>
                      <a:pt x="0" y="448727"/>
                    </a:cubicBezTo>
                    <a:lnTo>
                      <a:pt x="0" y="62317"/>
                    </a:lnTo>
                    <a:cubicBezTo>
                      <a:pt x="0" y="27900"/>
                      <a:pt x="27900" y="0"/>
                      <a:pt x="62317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9834" tIns="49917" rIns="324000" bIns="49917" rtlCol="0" anchor="ctr"/>
              <a:lstStyle/>
              <a:p>
                <a:pPr algn="ctr"/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8779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3"/>
          <p:cNvSpPr>
            <a:spLocks noChangeArrowheads="1"/>
          </p:cNvSpPr>
          <p:nvPr/>
        </p:nvSpPr>
        <p:spPr bwMode="auto">
          <a:xfrm>
            <a:off x="770690" y="195486"/>
            <a:ext cx="1266999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mpact" panose="020B0806030902050204" pitchFamily="34" charset="0"/>
              </a:rPr>
              <a:t>个人展示</a:t>
            </a:r>
            <a:endParaRPr lang="zh-CN" alt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82B4B532-5965-AB2B-EB31-6A23118C6AF9}"/>
              </a:ext>
            </a:extLst>
          </p:cNvPr>
          <p:cNvSpPr txBox="1"/>
          <p:nvPr/>
        </p:nvSpPr>
        <p:spPr>
          <a:xfrm>
            <a:off x="2503091" y="875147"/>
            <a:ext cx="1638605" cy="232810"/>
          </a:xfrm>
          <a:prstGeom prst="rect">
            <a:avLst/>
          </a:prstGeom>
          <a:noFill/>
        </p:spPr>
        <p:txBody>
          <a:bodyPr wrap="square" lIns="51423" tIns="25712" rIns="51423" bIns="25712" rtlCol="0">
            <a:spAutoFit/>
          </a:bodyPr>
          <a:lstStyle/>
          <a:p>
            <a:pPr>
              <a:lnSpc>
                <a:spcPts val="1518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加入添可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D13FFAFC-1FB5-5B60-3094-9FC8755C915E}"/>
              </a:ext>
            </a:extLst>
          </p:cNvPr>
          <p:cNvSpPr txBox="1"/>
          <p:nvPr/>
        </p:nvSpPr>
        <p:spPr>
          <a:xfrm>
            <a:off x="4167836" y="878226"/>
            <a:ext cx="946523" cy="232810"/>
          </a:xfrm>
          <a:prstGeom prst="rect">
            <a:avLst/>
          </a:prstGeom>
          <a:noFill/>
        </p:spPr>
        <p:txBody>
          <a:bodyPr wrap="square" lIns="51423" tIns="25712" rIns="51423" bIns="25712" rtlCol="0">
            <a:spAutoFit/>
          </a:bodyPr>
          <a:lstStyle/>
          <a:p>
            <a:pPr>
              <a:lnSpc>
                <a:spcPts val="1518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职级：</a:t>
            </a:r>
            <a:r>
              <a:rPr lang="en-US" altLang="zh-CN" sz="1200" dirty="0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rPr>
              <a:t>T6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9B4448B-7576-B1FD-C260-50C22A4BC5F7}"/>
              </a:ext>
            </a:extLst>
          </p:cNvPr>
          <p:cNvCxnSpPr>
            <a:cxnSpLocks/>
          </p:cNvCxnSpPr>
          <p:nvPr/>
        </p:nvCxnSpPr>
        <p:spPr>
          <a:xfrm>
            <a:off x="2537385" y="1425063"/>
            <a:ext cx="504056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D3D82720-D31F-B316-C6A9-0A9DACBDD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851670"/>
            <a:ext cx="5434894" cy="2760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423" tIns="25712" rIns="51423" bIns="25712"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>
              <a:lnSpc>
                <a:spcPts val="2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</a:rPr>
              <a:t>工作总结：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      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主导项目： </a:t>
            </a:r>
            <a:r>
              <a:rPr lang="en-US" altLang="zh-CN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wms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改造，达芬奇智能体开发，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B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端日常运维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&amp;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优化 工作 。</a:t>
            </a:r>
            <a:endParaRPr lang="en-US" altLang="zh-CN" sz="10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</a:endParaRPr>
          </a:p>
          <a:p>
            <a:pPr>
              <a:lnSpc>
                <a:spcPts val="2000"/>
              </a:lnSpc>
            </a:pPr>
            <a:r>
              <a:rPr lang="en-US" altLang="zh-CN" sz="1200" b="1" dirty="0">
                <a:solidFill>
                  <a:schemeClr val="tx2"/>
                </a:solidFill>
                <a:latin typeface="微软雅黑" pitchFamily="34" charset="-122"/>
              </a:rPr>
              <a:t> </a:t>
            </a:r>
            <a:endParaRPr lang="en-US" altLang="zh-CN" sz="900" dirty="0"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微软雅黑" pitchFamily="34" charset="-122"/>
              </a:rPr>
              <a:t>负责</a:t>
            </a:r>
            <a:r>
              <a:rPr lang="zh-CN" altLang="en-US" sz="1100" b="1" dirty="0">
                <a:latin typeface="微软雅黑" pitchFamily="34" charset="-122"/>
              </a:rPr>
              <a:t>国内分销</a:t>
            </a:r>
            <a:r>
              <a:rPr lang="zh-CN" altLang="en-US" sz="1100" dirty="0">
                <a:latin typeface="微软雅黑" pitchFamily="34" charset="-122"/>
              </a:rPr>
              <a:t>，</a:t>
            </a:r>
            <a:r>
              <a:rPr lang="zh-CN" altLang="en-US" sz="1100" b="1" dirty="0">
                <a:latin typeface="微软雅黑" pitchFamily="34" charset="-122"/>
              </a:rPr>
              <a:t>寄售</a:t>
            </a:r>
            <a:r>
              <a:rPr lang="zh-CN" altLang="en-US" sz="1100" dirty="0">
                <a:latin typeface="微软雅黑" pitchFamily="34" charset="-122"/>
              </a:rPr>
              <a:t>，</a:t>
            </a:r>
            <a:r>
              <a:rPr lang="zh-CN" altLang="en-US" sz="1100" b="1" dirty="0">
                <a:latin typeface="微软雅黑" pitchFamily="34" charset="-122"/>
              </a:rPr>
              <a:t>价格管理</a:t>
            </a:r>
            <a:r>
              <a:rPr lang="zh-CN" altLang="en-US" sz="1100" dirty="0">
                <a:latin typeface="微软雅黑" pitchFamily="34" charset="-122"/>
              </a:rPr>
              <a:t>，</a:t>
            </a:r>
            <a:r>
              <a:rPr lang="zh-CN" altLang="en-US" sz="1100" b="1" dirty="0">
                <a:latin typeface="微软雅黑" pitchFamily="34" charset="-122"/>
              </a:rPr>
              <a:t>国内</a:t>
            </a:r>
            <a:r>
              <a:rPr lang="en-US" altLang="zh-CN" sz="1100" b="1" dirty="0">
                <a:latin typeface="微软雅黑" pitchFamily="34" charset="-122"/>
              </a:rPr>
              <a:t>/</a:t>
            </a:r>
            <a:r>
              <a:rPr lang="zh-CN" altLang="en-US" sz="1100" b="1" dirty="0">
                <a:latin typeface="微软雅黑" pitchFamily="34" charset="-122"/>
              </a:rPr>
              <a:t>工厂</a:t>
            </a:r>
            <a:r>
              <a:rPr lang="en-US" altLang="zh-CN" sz="1100" b="1" dirty="0">
                <a:latin typeface="微软雅黑" pitchFamily="34" charset="-122"/>
              </a:rPr>
              <a:t>/</a:t>
            </a:r>
            <a:r>
              <a:rPr lang="zh-CN" altLang="en-US" sz="1100" b="1" dirty="0">
                <a:latin typeface="微软雅黑" pitchFamily="34" charset="-122"/>
              </a:rPr>
              <a:t>线下</a:t>
            </a:r>
            <a:r>
              <a:rPr lang="en-US" altLang="zh-CN" sz="1100" b="1" dirty="0">
                <a:latin typeface="微软雅黑" pitchFamily="34" charset="-122"/>
              </a:rPr>
              <a:t> </a:t>
            </a:r>
            <a:r>
              <a:rPr lang="zh-CN" altLang="en-US" sz="1100" b="1" dirty="0">
                <a:latin typeface="微软雅黑" pitchFamily="34" charset="-122"/>
              </a:rPr>
              <a:t>样机管理</a:t>
            </a:r>
            <a:r>
              <a:rPr lang="en-US" altLang="zh-CN" sz="1100" dirty="0">
                <a:latin typeface="微软雅黑" pitchFamily="34" charset="-122"/>
              </a:rPr>
              <a:t>,</a:t>
            </a:r>
            <a:r>
              <a:rPr lang="zh-CN" altLang="en-US" sz="1100" b="1" dirty="0">
                <a:latin typeface="微软雅黑" pitchFamily="34" charset="-122"/>
              </a:rPr>
              <a:t>门店订单</a:t>
            </a:r>
            <a:r>
              <a:rPr lang="zh-CN" altLang="en-US" sz="1100" dirty="0">
                <a:latin typeface="微软雅黑" pitchFamily="34" charset="-122"/>
              </a:rPr>
              <a:t>，</a:t>
            </a:r>
            <a:r>
              <a:rPr lang="zh-CN" altLang="en-US" sz="1100" b="1" dirty="0">
                <a:latin typeface="微软雅黑" pitchFamily="34" charset="-122"/>
              </a:rPr>
              <a:t>国内</a:t>
            </a:r>
            <a:r>
              <a:rPr lang="en-US" altLang="zh-CN" sz="1100" b="1" dirty="0">
                <a:latin typeface="微软雅黑" pitchFamily="34" charset="-122"/>
              </a:rPr>
              <a:t>APP</a:t>
            </a:r>
            <a:r>
              <a:rPr lang="zh-CN" altLang="en-US" sz="1100" dirty="0">
                <a:latin typeface="微软雅黑" pitchFamily="34" charset="-122"/>
              </a:rPr>
              <a:t>，售后服务商结算 等日常运维优化工作</a:t>
            </a:r>
            <a:endParaRPr lang="en-US" altLang="zh-CN" sz="1100" dirty="0"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微软雅黑" pitchFamily="34" charset="-122"/>
              </a:rPr>
              <a:t>Ai</a:t>
            </a:r>
            <a:r>
              <a:rPr lang="zh-CN" altLang="en-US" sz="1100" dirty="0">
                <a:latin typeface="微软雅黑" pitchFamily="34" charset="-122"/>
              </a:rPr>
              <a:t>贡献： 开发达芬奇智能体，</a:t>
            </a:r>
            <a:r>
              <a:rPr lang="en-US" altLang="zh-CN" sz="1100" dirty="0">
                <a:latin typeface="微软雅黑" pitchFamily="34" charset="-122"/>
              </a:rPr>
              <a:t>LLM</a:t>
            </a:r>
            <a:r>
              <a:rPr lang="zh-CN" altLang="en-US" sz="1100" dirty="0">
                <a:latin typeface="微软雅黑" pitchFamily="34" charset="-122"/>
              </a:rPr>
              <a:t>模型基于金山文档检索的方案探索，</a:t>
            </a:r>
            <a:endParaRPr lang="en-US" altLang="zh-CN" sz="1100" dirty="0"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微软雅黑" pitchFamily="34" charset="-122"/>
              </a:rPr>
              <a:t>老中台的技术升级，</a:t>
            </a:r>
            <a:r>
              <a:rPr lang="en-US" altLang="zh-CN" sz="1100" dirty="0" err="1">
                <a:latin typeface="微软雅黑" pitchFamily="34" charset="-122"/>
              </a:rPr>
              <a:t>skywalking</a:t>
            </a:r>
            <a:r>
              <a:rPr lang="zh-CN" altLang="en-US" sz="1100" dirty="0">
                <a:latin typeface="微软雅黑" pitchFamily="34" charset="-122"/>
              </a:rPr>
              <a:t>监控等</a:t>
            </a:r>
            <a:r>
              <a:rPr lang="en-US" altLang="zh-CN" sz="1100" dirty="0">
                <a:latin typeface="微软雅黑" pitchFamily="34" charset="-122"/>
              </a:rPr>
              <a:t>,order</a:t>
            </a:r>
            <a:r>
              <a:rPr lang="zh-CN" altLang="en-US" sz="1100" dirty="0">
                <a:latin typeface="微软雅黑" pitchFamily="34" charset="-122"/>
              </a:rPr>
              <a:t>服务废弃的代码清理等</a:t>
            </a:r>
            <a:endParaRPr lang="en-US" altLang="zh-CN" sz="1100" dirty="0"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微软雅黑" pitchFamily="34" charset="-122"/>
              </a:rPr>
              <a:t>B</a:t>
            </a:r>
            <a:r>
              <a:rPr lang="zh-CN" altLang="en-US" sz="1100" dirty="0">
                <a:latin typeface="微软雅黑" pitchFamily="34" charset="-122"/>
              </a:rPr>
              <a:t>端需求开发总计：</a:t>
            </a:r>
            <a:r>
              <a:rPr lang="en-US" altLang="zh-CN" sz="1100" dirty="0">
                <a:latin typeface="微软雅黑" pitchFamily="34" charset="-122"/>
              </a:rPr>
              <a:t>38</a:t>
            </a:r>
            <a:r>
              <a:rPr lang="zh-CN" altLang="en-US" sz="1100" dirty="0">
                <a:latin typeface="微软雅黑" pitchFamily="34" charset="-122"/>
              </a:rPr>
              <a:t>个</a:t>
            </a:r>
            <a:endParaRPr lang="en-US" altLang="zh-CN" sz="1100" dirty="0">
              <a:latin typeface="微软雅黑" pitchFamily="34" charset="-122"/>
            </a:endParaRPr>
          </a:p>
          <a:p>
            <a:pPr>
              <a:lnSpc>
                <a:spcPts val="2000"/>
              </a:lnSpc>
            </a:pPr>
            <a:endParaRPr lang="en-US" altLang="zh-CN" sz="1200" b="1" dirty="0">
              <a:solidFill>
                <a:schemeClr val="tx2"/>
              </a:solidFill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altLang="zh-CN" sz="1100" dirty="0">
              <a:latin typeface="微软雅黑" pitchFamily="34" charset="-122"/>
            </a:endParaRPr>
          </a:p>
          <a:p>
            <a:pPr marL="171450" indent="-1714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</a:endParaRPr>
          </a:p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</a:rPr>
              <a:t>	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</a:endParaRPr>
          </a:p>
        </p:txBody>
      </p:sp>
      <p:sp>
        <p:nvSpPr>
          <p:cNvPr id="70" name="TextBox 12">
            <a:extLst>
              <a:ext uri="{FF2B5EF4-FFF2-40B4-BE49-F238E27FC236}">
                <a16:creationId xmlns:a16="http://schemas.microsoft.com/office/drawing/2014/main" id="{2826B7EA-C99D-9730-C139-87BE1E80C1E4}"/>
              </a:ext>
            </a:extLst>
          </p:cNvPr>
          <p:cNvSpPr txBox="1"/>
          <p:nvPr/>
        </p:nvSpPr>
        <p:spPr>
          <a:xfrm>
            <a:off x="899592" y="2715766"/>
            <a:ext cx="805290" cy="207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马耀飞</a:t>
            </a:r>
          </a:p>
        </p:txBody>
      </p:sp>
      <p:sp>
        <p:nvSpPr>
          <p:cNvPr id="71" name="TextBox 18">
            <a:extLst>
              <a:ext uri="{FF2B5EF4-FFF2-40B4-BE49-F238E27FC236}">
                <a16:creationId xmlns:a16="http://schemas.microsoft.com/office/drawing/2014/main" id="{A0DF3E9D-F124-42FD-649E-E556A831EF5B}"/>
              </a:ext>
            </a:extLst>
          </p:cNvPr>
          <p:cNvSpPr txBox="1"/>
          <p:nvPr/>
        </p:nvSpPr>
        <p:spPr>
          <a:xfrm>
            <a:off x="2503091" y="1146002"/>
            <a:ext cx="5328392" cy="236592"/>
          </a:xfrm>
          <a:prstGeom prst="rect">
            <a:avLst/>
          </a:prstGeom>
          <a:noFill/>
        </p:spPr>
        <p:txBody>
          <a:bodyPr wrap="square" lIns="51423" tIns="25712" rIns="51423" bIns="25712" rtlCol="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职业技能：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后端开发，前端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VUE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，多线程，消息队列，分布式、架构思维，图像领域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模型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dirty="0"/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833D1C93-5093-666B-D7E1-2137ACD47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863173"/>
            <a:ext cx="1319463" cy="1759284"/>
          </a:xfrm>
          <a:prstGeom prst="rect">
            <a:avLst/>
          </a:prstGeom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E9DAA1E5-10C4-A815-7C6A-7A573B4D1D19}"/>
              </a:ext>
            </a:extLst>
          </p:cNvPr>
          <p:cNvSpPr txBox="1"/>
          <p:nvPr/>
        </p:nvSpPr>
        <p:spPr>
          <a:xfrm>
            <a:off x="5939340" y="914447"/>
            <a:ext cx="1638605" cy="232810"/>
          </a:xfrm>
          <a:prstGeom prst="rect">
            <a:avLst/>
          </a:prstGeom>
          <a:noFill/>
        </p:spPr>
        <p:txBody>
          <a:bodyPr wrap="square" lIns="51423" tIns="25712" rIns="51423" bIns="25712" rtlCol="0">
            <a:spAutoFit/>
          </a:bodyPr>
          <a:lstStyle/>
          <a:p>
            <a:pPr>
              <a:lnSpc>
                <a:spcPts val="1518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项目经验：</a:t>
            </a:r>
            <a:r>
              <a:rPr lang="en-US" altLang="zh-CN" sz="12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2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endParaRPr lang="en-US" altLang="zh-CN" sz="12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89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1" grpId="0"/>
      <p:bldP spid="70" grpId="0"/>
      <p:bldP spid="71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B404-BE25-F288-BE1D-CFB21F86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头: 下弧形 3">
            <a:extLst>
              <a:ext uri="{FF2B5EF4-FFF2-40B4-BE49-F238E27FC236}">
                <a16:creationId xmlns:a16="http://schemas.microsoft.com/office/drawing/2014/main" id="{5C0421E4-A978-7384-2DC0-614A10A1B1DE}"/>
              </a:ext>
            </a:extLst>
          </p:cNvPr>
          <p:cNvSpPr/>
          <p:nvPr/>
        </p:nvSpPr>
        <p:spPr>
          <a:xfrm flipH="1">
            <a:off x="6831356" y="3376448"/>
            <a:ext cx="1216153" cy="425149"/>
          </a:xfrm>
          <a:prstGeom prst="curvedUpArrow">
            <a:avLst/>
          </a:prstGeom>
          <a:solidFill>
            <a:srgbClr val="AAB6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4E963E-15E9-7885-B441-9C5FE074624E}"/>
              </a:ext>
            </a:extLst>
          </p:cNvPr>
          <p:cNvSpPr txBox="1"/>
          <p:nvPr/>
        </p:nvSpPr>
        <p:spPr>
          <a:xfrm>
            <a:off x="7563372" y="2169126"/>
            <a:ext cx="1339184" cy="369332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有很多优化点，</a:t>
            </a:r>
            <a:endParaRPr lang="en-US" altLang="zh-CN" sz="9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有很多技术难点</a:t>
            </a:r>
          </a:p>
        </p:txBody>
      </p:sp>
      <p:sp>
        <p:nvSpPr>
          <p:cNvPr id="90" name="矩形 3">
            <a:extLst>
              <a:ext uri="{FF2B5EF4-FFF2-40B4-BE49-F238E27FC236}">
                <a16:creationId xmlns:a16="http://schemas.microsoft.com/office/drawing/2014/main" id="{B1CCE024-06D1-3E66-5D01-67311D244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690" y="195486"/>
            <a:ext cx="1266999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mpact" panose="020B0806030902050204" pitchFamily="34" charset="0"/>
              </a:rPr>
              <a:t>工作总结</a:t>
            </a:r>
            <a:endParaRPr lang="zh-CN" alt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34A6EAAC-3A47-CEB6-E533-56CB60C7A636}"/>
              </a:ext>
            </a:extLst>
          </p:cNvPr>
          <p:cNvGrpSpPr/>
          <p:nvPr/>
        </p:nvGrpSpPr>
        <p:grpSpPr>
          <a:xfrm>
            <a:off x="251505" y="699542"/>
            <a:ext cx="8497992" cy="1051650"/>
            <a:chOff x="179512" y="686308"/>
            <a:chExt cx="8497992" cy="1051650"/>
          </a:xfrm>
        </p:grpSpPr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5040FD91-A1B7-5DC1-331A-1A306C926129}"/>
                </a:ext>
              </a:extLst>
            </p:cNvPr>
            <p:cNvSpPr/>
            <p:nvPr/>
          </p:nvSpPr>
          <p:spPr>
            <a:xfrm>
              <a:off x="1188672" y="775438"/>
              <a:ext cx="7488832" cy="941621"/>
            </a:xfrm>
            <a:prstGeom prst="flowChartProcess">
              <a:avLst/>
            </a:prstGeom>
            <a:solidFill>
              <a:srgbClr val="F0F0F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/>
                  </a:solidFill>
                </a:rPr>
                <a:t>负责达芬奇智能体需求沟通，技术探索，测试实践，技术方案设计及其实现。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E297A99-1524-7593-B51D-755E1EA94C7D}"/>
                </a:ext>
              </a:extLst>
            </p:cNvPr>
            <p:cNvSpPr txBox="1"/>
            <p:nvPr/>
          </p:nvSpPr>
          <p:spPr>
            <a:xfrm>
              <a:off x="1223050" y="686308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达芬奇智能体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4FA4483-2BFC-E62A-054A-ECFF19A5ECCC}"/>
                </a:ext>
              </a:extLst>
            </p:cNvPr>
            <p:cNvSpPr/>
            <p:nvPr/>
          </p:nvSpPr>
          <p:spPr>
            <a:xfrm>
              <a:off x="179512" y="796337"/>
              <a:ext cx="1009160" cy="941621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7151C6-2E7C-0511-911C-F6B9FF7AC8F5}"/>
              </a:ext>
            </a:extLst>
          </p:cNvPr>
          <p:cNvGrpSpPr/>
          <p:nvPr/>
        </p:nvGrpSpPr>
        <p:grpSpPr>
          <a:xfrm>
            <a:off x="859509" y="2465907"/>
            <a:ext cx="7956948" cy="1403964"/>
            <a:chOff x="859509" y="2465907"/>
            <a:chExt cx="7956948" cy="1403964"/>
          </a:xfrm>
        </p:grpSpPr>
        <p:graphicFrame>
          <p:nvGraphicFramePr>
            <p:cNvPr id="67" name="图示 66">
              <a:extLst>
                <a:ext uri="{FF2B5EF4-FFF2-40B4-BE49-F238E27FC236}">
                  <a16:creationId xmlns:a16="http://schemas.microsoft.com/office/drawing/2014/main" id="{E6BDDD08-13B1-63F5-CFB8-AD2D2AB5E95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37416854"/>
                </p:ext>
              </p:extLst>
            </p:nvPr>
          </p:nvGraphicFramePr>
          <p:xfrm>
            <a:off x="859509" y="2465907"/>
            <a:ext cx="7956948" cy="120876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80" name="箭头: 下弧形 79">
              <a:extLst>
                <a:ext uri="{FF2B5EF4-FFF2-40B4-BE49-F238E27FC236}">
                  <a16:creationId xmlns:a16="http://schemas.microsoft.com/office/drawing/2014/main" id="{0B5D0268-8C48-C8B0-D741-C5BFF235B7D0}"/>
                </a:ext>
              </a:extLst>
            </p:cNvPr>
            <p:cNvSpPr/>
            <p:nvPr/>
          </p:nvSpPr>
          <p:spPr>
            <a:xfrm flipH="1">
              <a:off x="5148064" y="3444722"/>
              <a:ext cx="1216153" cy="425149"/>
            </a:xfrm>
            <a:prstGeom prst="curvedUpArrow">
              <a:avLst/>
            </a:prstGeom>
            <a:solidFill>
              <a:srgbClr val="AAB6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3C70D9DC-8C54-5591-34F2-B616D12D361A}"/>
              </a:ext>
            </a:extLst>
          </p:cNvPr>
          <p:cNvSpPr txBox="1"/>
          <p:nvPr/>
        </p:nvSpPr>
        <p:spPr>
          <a:xfrm>
            <a:off x="859509" y="1958601"/>
            <a:ext cx="1212311" cy="784830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探索不同大模型语言理解，空间认知，空间设计，商业布局设计，图像生成，图像生成控制等能力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5516C14-D962-2E7B-6528-BDABD58B3287}"/>
              </a:ext>
            </a:extLst>
          </p:cNvPr>
          <p:cNvSpPr txBox="1"/>
          <p:nvPr/>
        </p:nvSpPr>
        <p:spPr>
          <a:xfrm>
            <a:off x="2550006" y="2197944"/>
            <a:ext cx="1212311" cy="507831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及时并如实的向上汇报，为领导决策提供依据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CAFA66C-544A-4CCC-7B55-AD36119D6463}"/>
              </a:ext>
            </a:extLst>
          </p:cNvPr>
          <p:cNvSpPr txBox="1"/>
          <p:nvPr/>
        </p:nvSpPr>
        <p:spPr>
          <a:xfrm>
            <a:off x="4225866" y="2169127"/>
            <a:ext cx="1339184" cy="507831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与科沃斯、添可共</a:t>
            </a:r>
            <a:r>
              <a:rPr lang="en-US" altLang="zh-CN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5+</a:t>
            </a:r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部门沟通需求、技术方案等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7C9FD39-D047-0773-E1B9-11AF247D3831}"/>
              </a:ext>
            </a:extLst>
          </p:cNvPr>
          <p:cNvSpPr txBox="1"/>
          <p:nvPr/>
        </p:nvSpPr>
        <p:spPr>
          <a:xfrm>
            <a:off x="5801413" y="1937964"/>
            <a:ext cx="1339184" cy="784830"/>
          </a:xfrm>
          <a:prstGeom prst="rect">
            <a:avLst/>
          </a:prstGeom>
          <a:solidFill>
            <a:srgbClr val="EAEAEA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掌握了</a:t>
            </a:r>
            <a:r>
              <a:rPr lang="en-US" altLang="zh-CN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个新领域知识</a:t>
            </a:r>
            <a:endParaRPr lang="en-US" altLang="zh-CN" sz="9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克服了</a:t>
            </a:r>
            <a:r>
              <a:rPr lang="en-US" altLang="zh-CN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个技术认知外的问题，与国际，架构，科沃斯等多个开发人员沟通确认技术方案</a:t>
            </a:r>
          </a:p>
        </p:txBody>
      </p:sp>
      <p:sp>
        <p:nvSpPr>
          <p:cNvPr id="86" name="立方体 85">
            <a:extLst>
              <a:ext uri="{FF2B5EF4-FFF2-40B4-BE49-F238E27FC236}">
                <a16:creationId xmlns:a16="http://schemas.microsoft.com/office/drawing/2014/main" id="{E3784FF3-E643-B5B7-5122-E282A244FD02}"/>
              </a:ext>
            </a:extLst>
          </p:cNvPr>
          <p:cNvSpPr/>
          <p:nvPr/>
        </p:nvSpPr>
        <p:spPr>
          <a:xfrm>
            <a:off x="644272" y="3869871"/>
            <a:ext cx="1216152" cy="121615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66FF"/>
                </a:solidFill>
              </a:rPr>
              <a:t>FLUX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87" name="立方体 86">
            <a:extLst>
              <a:ext uri="{FF2B5EF4-FFF2-40B4-BE49-F238E27FC236}">
                <a16:creationId xmlns:a16="http://schemas.microsoft.com/office/drawing/2014/main" id="{11E2A3D7-71A0-ED99-E087-6A08936DBC55}"/>
              </a:ext>
            </a:extLst>
          </p:cNvPr>
          <p:cNvSpPr/>
          <p:nvPr/>
        </p:nvSpPr>
        <p:spPr>
          <a:xfrm>
            <a:off x="2277810" y="3869871"/>
            <a:ext cx="1216152" cy="121615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rgbClr val="00AA48"/>
                </a:solidFill>
              </a:rPr>
              <a:t>ComfyUI</a:t>
            </a:r>
            <a:endParaRPr lang="zh-CN" altLang="en-US" dirty="0">
              <a:solidFill>
                <a:srgbClr val="00AA48"/>
              </a:solidFill>
            </a:endParaRPr>
          </a:p>
        </p:txBody>
      </p:sp>
      <p:sp>
        <p:nvSpPr>
          <p:cNvPr id="88" name="立方体 87">
            <a:extLst>
              <a:ext uri="{FF2B5EF4-FFF2-40B4-BE49-F238E27FC236}">
                <a16:creationId xmlns:a16="http://schemas.microsoft.com/office/drawing/2014/main" id="{8693A42E-9D72-3493-6484-C1EA08E2FD28}"/>
              </a:ext>
            </a:extLst>
          </p:cNvPr>
          <p:cNvSpPr/>
          <p:nvPr/>
        </p:nvSpPr>
        <p:spPr>
          <a:xfrm>
            <a:off x="3892425" y="3818412"/>
            <a:ext cx="1216152" cy="121615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MJ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9" name="立方体 88">
            <a:extLst>
              <a:ext uri="{FF2B5EF4-FFF2-40B4-BE49-F238E27FC236}">
                <a16:creationId xmlns:a16="http://schemas.microsoft.com/office/drawing/2014/main" id="{0379DEB9-FB5B-6615-6BBE-EF3D698270EC}"/>
              </a:ext>
            </a:extLst>
          </p:cNvPr>
          <p:cNvSpPr/>
          <p:nvPr/>
        </p:nvSpPr>
        <p:spPr>
          <a:xfrm>
            <a:off x="6084168" y="3831099"/>
            <a:ext cx="1216152" cy="1216152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400"/>
                </a:solidFill>
              </a:rPr>
              <a:t>Docker</a:t>
            </a:r>
            <a:endParaRPr lang="zh-CN" altLang="en-US" dirty="0">
              <a:solidFill>
                <a:srgbClr val="003400"/>
              </a:solidFill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CA9903C-0A55-CA8F-C79E-8F1A3E9A018C}"/>
              </a:ext>
            </a:extLst>
          </p:cNvPr>
          <p:cNvSpPr txBox="1"/>
          <p:nvPr/>
        </p:nvSpPr>
        <p:spPr>
          <a:xfrm>
            <a:off x="2286000" y="24378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433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3"/>
          <p:cNvSpPr>
            <a:spLocks noChangeArrowheads="1"/>
          </p:cNvSpPr>
          <p:nvPr/>
        </p:nvSpPr>
        <p:spPr bwMode="auto">
          <a:xfrm>
            <a:off x="770690" y="195486"/>
            <a:ext cx="1266999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工作总结</a:t>
            </a: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475D8970-63E6-ADDF-5A35-4AB7AFA1EFA9}"/>
              </a:ext>
            </a:extLst>
          </p:cNvPr>
          <p:cNvSpPr/>
          <p:nvPr/>
        </p:nvSpPr>
        <p:spPr>
          <a:xfrm>
            <a:off x="810364" y="741783"/>
            <a:ext cx="7488832" cy="941621"/>
          </a:xfrm>
          <a:prstGeom prst="flowChartProcess">
            <a:avLst/>
          </a:prstGeom>
          <a:solidFill>
            <a:srgbClr val="F0F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输出开发设计文档，带领外包同事完成编码工作并把关质量。上线前，充分测试并发布上线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EBC673-7BFB-9105-73FC-14D6D5C9181D}"/>
              </a:ext>
            </a:extLst>
          </p:cNvPr>
          <p:cNvSpPr txBox="1"/>
          <p:nvPr/>
        </p:nvSpPr>
        <p:spPr>
          <a:xfrm>
            <a:off x="899592" y="627534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Wms</a:t>
            </a:r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改造项目</a:t>
            </a:r>
          </a:p>
        </p:txBody>
      </p:sp>
      <p:grpSp>
        <p:nvGrpSpPr>
          <p:cNvPr id="38" name="Group 45">
            <a:extLst>
              <a:ext uri="{FF2B5EF4-FFF2-40B4-BE49-F238E27FC236}">
                <a16:creationId xmlns:a16="http://schemas.microsoft.com/office/drawing/2014/main" id="{E8AFB164-3AF9-9883-70C3-3005D8B27B74}"/>
              </a:ext>
            </a:extLst>
          </p:cNvPr>
          <p:cNvGrpSpPr/>
          <p:nvPr/>
        </p:nvGrpSpPr>
        <p:grpSpPr>
          <a:xfrm>
            <a:off x="13159513" y="5782266"/>
            <a:ext cx="4468358" cy="334480"/>
            <a:chOff x="0" y="0"/>
            <a:chExt cx="5883846" cy="1226947"/>
          </a:xfrm>
        </p:grpSpPr>
        <p:sp>
          <p:nvSpPr>
            <p:cNvPr id="39" name="TextBox 46">
              <a:extLst>
                <a:ext uri="{FF2B5EF4-FFF2-40B4-BE49-F238E27FC236}">
                  <a16:creationId xmlns:a16="http://schemas.microsoft.com/office/drawing/2014/main" id="{554CC33A-3046-F3FD-E2AF-2C140ACBDA66}"/>
                </a:ext>
              </a:extLst>
            </p:cNvPr>
            <p:cNvSpPr txBox="1"/>
            <p:nvPr/>
          </p:nvSpPr>
          <p:spPr>
            <a:xfrm>
              <a:off x="0" y="790067"/>
              <a:ext cx="5640006" cy="43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单击此处添加正文，文字是您思想的提炼</a:t>
              </a:r>
            </a:p>
          </p:txBody>
        </p:sp>
        <p:grpSp>
          <p:nvGrpSpPr>
            <p:cNvPr id="40" name="Group 47">
              <a:extLst>
                <a:ext uri="{FF2B5EF4-FFF2-40B4-BE49-F238E27FC236}">
                  <a16:creationId xmlns:a16="http://schemas.microsoft.com/office/drawing/2014/main" id="{1BA57969-7476-8FE6-6D2C-9ECA077222E8}"/>
                </a:ext>
              </a:extLst>
            </p:cNvPr>
            <p:cNvGrpSpPr/>
            <p:nvPr/>
          </p:nvGrpSpPr>
          <p:grpSpPr>
            <a:xfrm>
              <a:off x="0" y="0"/>
              <a:ext cx="5883846" cy="805349"/>
              <a:chOff x="0" y="0"/>
              <a:chExt cx="5883846" cy="805349"/>
            </a:xfrm>
          </p:grpSpPr>
          <p:sp>
            <p:nvSpPr>
              <p:cNvPr id="41" name="Freeform 48" descr="t2.2">
                <a:extLst>
                  <a:ext uri="{FF2B5EF4-FFF2-40B4-BE49-F238E27FC236}">
                    <a16:creationId xmlns:a16="http://schemas.microsoft.com/office/drawing/2014/main" id="{6CA62172-8F35-5C59-6CE5-CB4419CF01F3}"/>
                  </a:ext>
                </a:extLst>
              </p:cNvPr>
              <p:cNvSpPr/>
              <p:nvPr/>
            </p:nvSpPr>
            <p:spPr>
              <a:xfrm>
                <a:off x="0" y="0"/>
                <a:ext cx="5883844" cy="805354"/>
              </a:xfrm>
              <a:custGeom>
                <a:avLst/>
                <a:gdLst/>
                <a:ahLst/>
                <a:cxnLst/>
                <a:rect l="l" t="t" r="r" b="b"/>
                <a:pathLst>
                  <a:path w="5883844" h="805354">
                    <a:moveTo>
                      <a:pt x="0" y="0"/>
                    </a:moveTo>
                    <a:lnTo>
                      <a:pt x="5883844" y="0"/>
                    </a:lnTo>
                    <a:lnTo>
                      <a:pt x="5883844" y="805354"/>
                    </a:lnTo>
                    <a:lnTo>
                      <a:pt x="0" y="80535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42" name="TextBox 49">
                <a:extLst>
                  <a:ext uri="{FF2B5EF4-FFF2-40B4-BE49-F238E27FC236}">
                    <a16:creationId xmlns:a16="http://schemas.microsoft.com/office/drawing/2014/main" id="{33A33218-2DED-03E5-9EEC-863327ACE7FF}"/>
                  </a:ext>
                </a:extLst>
              </p:cNvPr>
              <p:cNvSpPr txBox="1"/>
              <p:nvPr/>
            </p:nvSpPr>
            <p:spPr>
              <a:xfrm>
                <a:off x="0" y="9525"/>
                <a:ext cx="5883846" cy="79582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1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rPr>
                  <a:t>衔接机制完善</a:t>
                </a:r>
              </a:p>
            </p:txBody>
          </p:sp>
        </p:grpSp>
      </p:grpSp>
      <p:grpSp>
        <p:nvGrpSpPr>
          <p:cNvPr id="43" name="Group 50">
            <a:extLst>
              <a:ext uri="{FF2B5EF4-FFF2-40B4-BE49-F238E27FC236}">
                <a16:creationId xmlns:a16="http://schemas.microsoft.com/office/drawing/2014/main" id="{387D8C8B-7DBB-6A84-1F66-E020A90F3BBC}"/>
              </a:ext>
            </a:extLst>
          </p:cNvPr>
          <p:cNvGrpSpPr/>
          <p:nvPr/>
        </p:nvGrpSpPr>
        <p:grpSpPr>
          <a:xfrm>
            <a:off x="13159513" y="7581141"/>
            <a:ext cx="4468358" cy="341269"/>
            <a:chOff x="0" y="0"/>
            <a:chExt cx="5883846" cy="1251852"/>
          </a:xfrm>
        </p:grpSpPr>
        <p:sp>
          <p:nvSpPr>
            <p:cNvPr id="44" name="TextBox 51">
              <a:extLst>
                <a:ext uri="{FF2B5EF4-FFF2-40B4-BE49-F238E27FC236}">
                  <a16:creationId xmlns:a16="http://schemas.microsoft.com/office/drawing/2014/main" id="{7D88B1E1-43FA-61F8-4A81-A0FD3BDDA00D}"/>
                </a:ext>
              </a:extLst>
            </p:cNvPr>
            <p:cNvSpPr txBox="1"/>
            <p:nvPr/>
          </p:nvSpPr>
          <p:spPr>
            <a:xfrm>
              <a:off x="0" y="814972"/>
              <a:ext cx="5640006" cy="43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单击此处添加正文，文字是您思想的提炼</a:t>
              </a:r>
            </a:p>
          </p:txBody>
        </p:sp>
        <p:grpSp>
          <p:nvGrpSpPr>
            <p:cNvPr id="45" name="Group 52">
              <a:extLst>
                <a:ext uri="{FF2B5EF4-FFF2-40B4-BE49-F238E27FC236}">
                  <a16:creationId xmlns:a16="http://schemas.microsoft.com/office/drawing/2014/main" id="{3C0A5415-ACCF-C8A4-07EE-185301BE4220}"/>
                </a:ext>
              </a:extLst>
            </p:cNvPr>
            <p:cNvGrpSpPr/>
            <p:nvPr/>
          </p:nvGrpSpPr>
          <p:grpSpPr>
            <a:xfrm>
              <a:off x="0" y="0"/>
              <a:ext cx="5883846" cy="830204"/>
              <a:chOff x="0" y="0"/>
              <a:chExt cx="5883846" cy="830204"/>
            </a:xfrm>
          </p:grpSpPr>
          <p:sp>
            <p:nvSpPr>
              <p:cNvPr id="46" name="Freeform 53" descr="t2.3">
                <a:extLst>
                  <a:ext uri="{FF2B5EF4-FFF2-40B4-BE49-F238E27FC236}">
                    <a16:creationId xmlns:a16="http://schemas.microsoft.com/office/drawing/2014/main" id="{CCB9C774-94B3-00E5-DE5A-9F0FF70D267E}"/>
                  </a:ext>
                </a:extLst>
              </p:cNvPr>
              <p:cNvSpPr/>
              <p:nvPr/>
            </p:nvSpPr>
            <p:spPr>
              <a:xfrm>
                <a:off x="0" y="0"/>
                <a:ext cx="5883844" cy="830209"/>
              </a:xfrm>
              <a:custGeom>
                <a:avLst/>
                <a:gdLst/>
                <a:ahLst/>
                <a:cxnLst/>
                <a:rect l="l" t="t" r="r" b="b"/>
                <a:pathLst>
                  <a:path w="5883844" h="830209">
                    <a:moveTo>
                      <a:pt x="0" y="0"/>
                    </a:moveTo>
                    <a:lnTo>
                      <a:pt x="5883844" y="0"/>
                    </a:lnTo>
                    <a:lnTo>
                      <a:pt x="5883844" y="830209"/>
                    </a:lnTo>
                    <a:lnTo>
                      <a:pt x="0" y="83020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47" name="TextBox 54">
                <a:extLst>
                  <a:ext uri="{FF2B5EF4-FFF2-40B4-BE49-F238E27FC236}">
                    <a16:creationId xmlns:a16="http://schemas.microsoft.com/office/drawing/2014/main" id="{574A7179-6163-C0DC-FECF-62E3CAD32D51}"/>
                  </a:ext>
                </a:extLst>
              </p:cNvPr>
              <p:cNvSpPr txBox="1"/>
              <p:nvPr/>
            </p:nvSpPr>
            <p:spPr>
              <a:xfrm>
                <a:off x="0" y="9525"/>
                <a:ext cx="5883846" cy="82067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1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rPr>
                  <a:t>测试机制完善</a:t>
                </a:r>
              </a:p>
            </p:txBody>
          </p:sp>
        </p:grpSp>
      </p:grpSp>
      <p:grpSp>
        <p:nvGrpSpPr>
          <p:cNvPr id="48" name="Group 55">
            <a:extLst>
              <a:ext uri="{FF2B5EF4-FFF2-40B4-BE49-F238E27FC236}">
                <a16:creationId xmlns:a16="http://schemas.microsoft.com/office/drawing/2014/main" id="{7AB6B1AE-AFD6-FA13-681D-5CB8DC4B553E}"/>
              </a:ext>
            </a:extLst>
          </p:cNvPr>
          <p:cNvGrpSpPr/>
          <p:nvPr/>
        </p:nvGrpSpPr>
        <p:grpSpPr>
          <a:xfrm>
            <a:off x="13159513" y="3993118"/>
            <a:ext cx="4468358" cy="336166"/>
            <a:chOff x="0" y="0"/>
            <a:chExt cx="5883846" cy="1233132"/>
          </a:xfrm>
        </p:grpSpPr>
        <p:sp>
          <p:nvSpPr>
            <p:cNvPr id="49" name="TextBox 56">
              <a:extLst>
                <a:ext uri="{FF2B5EF4-FFF2-40B4-BE49-F238E27FC236}">
                  <a16:creationId xmlns:a16="http://schemas.microsoft.com/office/drawing/2014/main" id="{486B9BB2-8796-03ED-A09F-5DF126757F45}"/>
                </a:ext>
              </a:extLst>
            </p:cNvPr>
            <p:cNvSpPr txBox="1"/>
            <p:nvPr/>
          </p:nvSpPr>
          <p:spPr>
            <a:xfrm>
              <a:off x="0" y="796252"/>
              <a:ext cx="5640006" cy="43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rPr>
                <a:t>单击此处添加正文，文字是您思想的提炼</a:t>
              </a:r>
            </a:p>
          </p:txBody>
        </p:sp>
        <p:grpSp>
          <p:nvGrpSpPr>
            <p:cNvPr id="50" name="Group 57">
              <a:extLst>
                <a:ext uri="{FF2B5EF4-FFF2-40B4-BE49-F238E27FC236}">
                  <a16:creationId xmlns:a16="http://schemas.microsoft.com/office/drawing/2014/main" id="{D8953A1E-2274-C5A3-1465-6BCF148E9D0A}"/>
                </a:ext>
              </a:extLst>
            </p:cNvPr>
            <p:cNvGrpSpPr/>
            <p:nvPr/>
          </p:nvGrpSpPr>
          <p:grpSpPr>
            <a:xfrm>
              <a:off x="0" y="0"/>
              <a:ext cx="5883846" cy="811494"/>
              <a:chOff x="0" y="0"/>
              <a:chExt cx="5883846" cy="811494"/>
            </a:xfrm>
          </p:grpSpPr>
          <p:sp>
            <p:nvSpPr>
              <p:cNvPr id="51" name="Freeform 58" descr="t2.1">
                <a:extLst>
                  <a:ext uri="{FF2B5EF4-FFF2-40B4-BE49-F238E27FC236}">
                    <a16:creationId xmlns:a16="http://schemas.microsoft.com/office/drawing/2014/main" id="{0DEF6D2F-32D8-237C-10E2-EC0330998AD2}"/>
                  </a:ext>
                </a:extLst>
              </p:cNvPr>
              <p:cNvSpPr/>
              <p:nvPr/>
            </p:nvSpPr>
            <p:spPr>
              <a:xfrm>
                <a:off x="0" y="0"/>
                <a:ext cx="5883844" cy="811496"/>
              </a:xfrm>
              <a:custGeom>
                <a:avLst/>
                <a:gdLst/>
                <a:ahLst/>
                <a:cxnLst/>
                <a:rect l="l" t="t" r="r" b="b"/>
                <a:pathLst>
                  <a:path w="5883844" h="811496">
                    <a:moveTo>
                      <a:pt x="0" y="0"/>
                    </a:moveTo>
                    <a:lnTo>
                      <a:pt x="5883844" y="0"/>
                    </a:lnTo>
                    <a:lnTo>
                      <a:pt x="5883844" y="811496"/>
                    </a:lnTo>
                    <a:lnTo>
                      <a:pt x="0" y="81149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52" name="TextBox 59">
                <a:extLst>
                  <a:ext uri="{FF2B5EF4-FFF2-40B4-BE49-F238E27FC236}">
                    <a16:creationId xmlns:a16="http://schemas.microsoft.com/office/drawing/2014/main" id="{F6593F75-8876-1044-5CF9-7359C33033A6}"/>
                  </a:ext>
                </a:extLst>
              </p:cNvPr>
              <p:cNvSpPr txBox="1"/>
              <p:nvPr/>
            </p:nvSpPr>
            <p:spPr>
              <a:xfrm>
                <a:off x="0" y="9525"/>
                <a:ext cx="5883846" cy="80196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 b="1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rPr>
                  <a:t>环节梳理简化</a:t>
                </a:r>
              </a:p>
            </p:txBody>
          </p:sp>
        </p:grp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E57EB86-B3EA-3176-5635-663C04AE2559}"/>
              </a:ext>
            </a:extLst>
          </p:cNvPr>
          <p:cNvGrpSpPr/>
          <p:nvPr/>
        </p:nvGrpSpPr>
        <p:grpSpPr>
          <a:xfrm>
            <a:off x="431974" y="2117295"/>
            <a:ext cx="8712026" cy="2284422"/>
            <a:chOff x="587562" y="2124445"/>
            <a:chExt cx="8712026" cy="2284422"/>
          </a:xfrm>
        </p:grpSpPr>
        <p:grpSp>
          <p:nvGrpSpPr>
            <p:cNvPr id="121" name="Group 11">
              <a:extLst>
                <a:ext uri="{FF2B5EF4-FFF2-40B4-BE49-F238E27FC236}">
                  <a16:creationId xmlns:a16="http://schemas.microsoft.com/office/drawing/2014/main" id="{25936183-9512-4205-E436-5AA786867277}"/>
                </a:ext>
              </a:extLst>
            </p:cNvPr>
            <p:cNvGrpSpPr/>
            <p:nvPr/>
          </p:nvGrpSpPr>
          <p:grpSpPr>
            <a:xfrm rot="-10800000">
              <a:off x="4716016" y="2361479"/>
              <a:ext cx="1242284" cy="1242284"/>
              <a:chOff x="0" y="0"/>
              <a:chExt cx="3312757" cy="3312757"/>
            </a:xfrm>
            <a:solidFill>
              <a:srgbClr val="F9FAFA"/>
            </a:solidFill>
            <a:effectLst>
              <a:outerShdw dist="63500" dir="2700000" sx="103000" sy="103000" algn="ctr" rotWithShape="0">
                <a:srgbClr val="000000">
                  <a:alpha val="30000"/>
                </a:srgbClr>
              </a:outerShdw>
            </a:effectLst>
          </p:grpSpPr>
          <p:sp>
            <p:nvSpPr>
              <p:cNvPr id="122" name="Freeform 12">
                <a:extLst>
                  <a:ext uri="{FF2B5EF4-FFF2-40B4-BE49-F238E27FC236}">
                    <a16:creationId xmlns:a16="http://schemas.microsoft.com/office/drawing/2014/main" id="{DD2D5051-310D-BB1D-C455-8EF41803653A}"/>
                  </a:ext>
                </a:extLst>
              </p:cNvPr>
              <p:cNvSpPr/>
              <p:nvPr/>
            </p:nvSpPr>
            <p:spPr>
              <a:xfrm>
                <a:off x="0" y="0"/>
                <a:ext cx="3312668" cy="3312668"/>
              </a:xfrm>
              <a:custGeom>
                <a:avLst/>
                <a:gdLst/>
                <a:ahLst/>
                <a:cxnLst/>
                <a:rect l="l" t="t" r="r" b="b"/>
                <a:pathLst>
                  <a:path w="3312668" h="3312668">
                    <a:moveTo>
                      <a:pt x="0" y="1656334"/>
                    </a:moveTo>
                    <a:cubicBezTo>
                      <a:pt x="0" y="741553"/>
                      <a:pt x="741553" y="0"/>
                      <a:pt x="1656334" y="0"/>
                    </a:cubicBezTo>
                    <a:cubicBezTo>
                      <a:pt x="2208403" y="0"/>
                      <a:pt x="2760599" y="0"/>
                      <a:pt x="3312668" y="0"/>
                    </a:cubicBezTo>
                    <a:cubicBezTo>
                      <a:pt x="3312668" y="552069"/>
                      <a:pt x="3312668" y="1104265"/>
                      <a:pt x="3312668" y="1656334"/>
                    </a:cubicBezTo>
                    <a:cubicBezTo>
                      <a:pt x="3312668" y="2571115"/>
                      <a:pt x="2571115" y="3312668"/>
                      <a:pt x="1656334" y="3312668"/>
                    </a:cubicBezTo>
                    <a:cubicBezTo>
                      <a:pt x="741553" y="3312668"/>
                      <a:pt x="0" y="2571115"/>
                      <a:pt x="0" y="16563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</p:sp>
        </p:grpSp>
        <p:grpSp>
          <p:nvGrpSpPr>
            <p:cNvPr id="123" name="Group 13">
              <a:extLst>
                <a:ext uri="{FF2B5EF4-FFF2-40B4-BE49-F238E27FC236}">
                  <a16:creationId xmlns:a16="http://schemas.microsoft.com/office/drawing/2014/main" id="{C02F5693-339C-4264-1C60-AE4A8812DAA1}"/>
                </a:ext>
              </a:extLst>
            </p:cNvPr>
            <p:cNvGrpSpPr/>
            <p:nvPr/>
          </p:nvGrpSpPr>
          <p:grpSpPr>
            <a:xfrm>
              <a:off x="3380431" y="3144830"/>
              <a:ext cx="1242251" cy="1242251"/>
              <a:chOff x="7099133" y="5609116"/>
              <a:chExt cx="3312669" cy="3312669"/>
            </a:xfrm>
            <a:gradFill>
              <a:gsLst>
                <a:gs pos="0">
                  <a:srgbClr val="0070C0"/>
                </a:gs>
                <a:gs pos="43000">
                  <a:schemeClr val="accent1">
                    <a:lumMod val="97000"/>
                    <a:lumOff val="3000"/>
                  </a:schemeClr>
                </a:gs>
              </a:gsLst>
              <a:lin ang="11400000" scaled="0"/>
            </a:gradFill>
            <a:effectLst>
              <a:outerShdw blurRad="50800" dist="63500" dir="2700000" algn="ctr" rotWithShape="0">
                <a:schemeClr val="accent1">
                  <a:lumMod val="75000"/>
                  <a:alpha val="30000"/>
                </a:schemeClr>
              </a:outerShdw>
              <a:reflection endPos="0" dir="5400000" sy="-100000" algn="bl" rotWithShape="0"/>
            </a:effectLst>
          </p:grpSpPr>
          <p:sp>
            <p:nvSpPr>
              <p:cNvPr id="124" name="Freeform 14">
                <a:extLst>
                  <a:ext uri="{FF2B5EF4-FFF2-40B4-BE49-F238E27FC236}">
                    <a16:creationId xmlns:a16="http://schemas.microsoft.com/office/drawing/2014/main" id="{4636CF76-6BAE-573A-C636-4DDA8C4A799E}"/>
                  </a:ext>
                </a:extLst>
              </p:cNvPr>
              <p:cNvSpPr/>
              <p:nvPr/>
            </p:nvSpPr>
            <p:spPr>
              <a:xfrm>
                <a:off x="7099133" y="5609116"/>
                <a:ext cx="3312669" cy="3312669"/>
              </a:xfrm>
              <a:custGeom>
                <a:avLst/>
                <a:gdLst/>
                <a:ahLst/>
                <a:cxnLst/>
                <a:rect l="l" t="t" r="r" b="b"/>
                <a:pathLst>
                  <a:path w="3312668" h="3312668">
                    <a:moveTo>
                      <a:pt x="0" y="1656334"/>
                    </a:moveTo>
                    <a:cubicBezTo>
                      <a:pt x="0" y="741553"/>
                      <a:pt x="741553" y="0"/>
                      <a:pt x="1656334" y="0"/>
                    </a:cubicBezTo>
                    <a:cubicBezTo>
                      <a:pt x="2208403" y="0"/>
                      <a:pt x="2760599" y="0"/>
                      <a:pt x="3312668" y="0"/>
                    </a:cubicBezTo>
                    <a:cubicBezTo>
                      <a:pt x="3312668" y="552069"/>
                      <a:pt x="3312668" y="1104265"/>
                      <a:pt x="3312668" y="1656334"/>
                    </a:cubicBezTo>
                    <a:cubicBezTo>
                      <a:pt x="3312668" y="2571115"/>
                      <a:pt x="2571115" y="3312668"/>
                      <a:pt x="1656334" y="3312668"/>
                    </a:cubicBezTo>
                    <a:cubicBezTo>
                      <a:pt x="741553" y="3312668"/>
                      <a:pt x="0" y="2571115"/>
                      <a:pt x="0" y="1656334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grpSp>
          <p:nvGrpSpPr>
            <p:cNvPr id="131" name="Group 21">
              <a:extLst>
                <a:ext uri="{FF2B5EF4-FFF2-40B4-BE49-F238E27FC236}">
                  <a16:creationId xmlns:a16="http://schemas.microsoft.com/office/drawing/2014/main" id="{F3DC94CE-36B0-1A9B-0B71-8D9AA6CEBF79}"/>
                </a:ext>
              </a:extLst>
            </p:cNvPr>
            <p:cNvGrpSpPr/>
            <p:nvPr/>
          </p:nvGrpSpPr>
          <p:grpSpPr>
            <a:xfrm>
              <a:off x="587562" y="3009587"/>
              <a:ext cx="2106802" cy="452656"/>
              <a:chOff x="0" y="0"/>
              <a:chExt cx="5618137" cy="1207080"/>
            </a:xfrm>
          </p:grpSpPr>
          <p:sp>
            <p:nvSpPr>
              <p:cNvPr id="132" name="TextBox 22">
                <a:extLst>
                  <a:ext uri="{FF2B5EF4-FFF2-40B4-BE49-F238E27FC236}">
                    <a16:creationId xmlns:a16="http://schemas.microsoft.com/office/drawing/2014/main" id="{8DB762CB-CF2F-BD83-81CB-CEB8D0612032}"/>
                  </a:ext>
                </a:extLst>
              </p:cNvPr>
              <p:cNvSpPr txBox="1"/>
              <p:nvPr/>
            </p:nvSpPr>
            <p:spPr>
              <a:xfrm>
                <a:off x="7277" y="795857"/>
                <a:ext cx="5610860" cy="41122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r">
                  <a:lnSpc>
                    <a:spcPts val="1440"/>
                  </a:lnSpc>
                </a:pPr>
                <a:endParaRPr lang="en-US" sz="900" dirty="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endParaRPr>
              </a:p>
            </p:txBody>
          </p:sp>
          <p:grpSp>
            <p:nvGrpSpPr>
              <p:cNvPr id="133" name="Group 23">
                <a:extLst>
                  <a:ext uri="{FF2B5EF4-FFF2-40B4-BE49-F238E27FC236}">
                    <a16:creationId xmlns:a16="http://schemas.microsoft.com/office/drawing/2014/main" id="{712727F0-6C57-AE20-4390-EA38D5E14478}"/>
                  </a:ext>
                </a:extLst>
              </p:cNvPr>
              <p:cNvGrpSpPr/>
              <p:nvPr/>
            </p:nvGrpSpPr>
            <p:grpSpPr>
              <a:xfrm>
                <a:off x="0" y="0"/>
                <a:ext cx="5618137" cy="811494"/>
                <a:chOff x="0" y="0"/>
                <a:chExt cx="5618137" cy="811494"/>
              </a:xfrm>
            </p:grpSpPr>
            <p:sp>
              <p:nvSpPr>
                <p:cNvPr id="134" name="Freeform 24" descr="t1.2">
                  <a:extLst>
                    <a:ext uri="{FF2B5EF4-FFF2-40B4-BE49-F238E27FC236}">
                      <a16:creationId xmlns:a16="http://schemas.microsoft.com/office/drawing/2014/main" id="{871740B7-DBCC-7A22-1E44-CBC1519E6F8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618140" cy="811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8140" h="811496">
                      <a:moveTo>
                        <a:pt x="0" y="0"/>
                      </a:moveTo>
                      <a:lnTo>
                        <a:pt x="5618140" y="0"/>
                      </a:lnTo>
                      <a:lnTo>
                        <a:pt x="5618140" y="811496"/>
                      </a:lnTo>
                      <a:lnTo>
                        <a:pt x="0" y="811496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35" name="TextBox 25">
                  <a:extLst>
                    <a:ext uri="{FF2B5EF4-FFF2-40B4-BE49-F238E27FC236}">
                      <a16:creationId xmlns:a16="http://schemas.microsoft.com/office/drawing/2014/main" id="{06A00775-705A-D713-BAD4-32049893C75D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5618137" cy="801969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r"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测试较充分，线上问题少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36" name="Group 26">
              <a:extLst>
                <a:ext uri="{FF2B5EF4-FFF2-40B4-BE49-F238E27FC236}">
                  <a16:creationId xmlns:a16="http://schemas.microsoft.com/office/drawing/2014/main" id="{FDAEE977-94BA-EA09-CD20-AE29419AACF6}"/>
                </a:ext>
              </a:extLst>
            </p:cNvPr>
            <p:cNvGrpSpPr/>
            <p:nvPr/>
          </p:nvGrpSpPr>
          <p:grpSpPr>
            <a:xfrm>
              <a:off x="587562" y="3956002"/>
              <a:ext cx="2106802" cy="452865"/>
              <a:chOff x="0" y="0"/>
              <a:chExt cx="5618137" cy="1207640"/>
            </a:xfrm>
          </p:grpSpPr>
          <p:sp>
            <p:nvSpPr>
              <p:cNvPr id="137" name="TextBox 27">
                <a:extLst>
                  <a:ext uri="{FF2B5EF4-FFF2-40B4-BE49-F238E27FC236}">
                    <a16:creationId xmlns:a16="http://schemas.microsoft.com/office/drawing/2014/main" id="{BA2730DE-9CD8-B6C9-A1CD-3563DA426450}"/>
                  </a:ext>
                </a:extLst>
              </p:cNvPr>
              <p:cNvSpPr txBox="1"/>
              <p:nvPr/>
            </p:nvSpPr>
            <p:spPr>
              <a:xfrm>
                <a:off x="7277" y="796416"/>
                <a:ext cx="5610860" cy="4112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r">
                  <a:lnSpc>
                    <a:spcPts val="1440"/>
                  </a:lnSpc>
                </a:pPr>
                <a:r>
                  <a:rPr lang="en-US" altLang="zh-CN" sz="900" dirty="0" err="1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Wms</a:t>
                </a:r>
                <a:r>
                  <a:rPr lang="zh-CN" altLang="en-US" sz="900" dirty="0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项目周期长，经手外包人员离职</a:t>
                </a:r>
                <a:endParaRPr lang="en-US" sz="900" dirty="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endParaRPr>
              </a:p>
            </p:txBody>
          </p:sp>
          <p:grpSp>
            <p:nvGrpSpPr>
              <p:cNvPr id="138" name="Group 28">
                <a:extLst>
                  <a:ext uri="{FF2B5EF4-FFF2-40B4-BE49-F238E27FC236}">
                    <a16:creationId xmlns:a16="http://schemas.microsoft.com/office/drawing/2014/main" id="{E7712DBD-B205-A44D-8994-411E48709F36}"/>
                  </a:ext>
                </a:extLst>
              </p:cNvPr>
              <p:cNvGrpSpPr/>
              <p:nvPr/>
            </p:nvGrpSpPr>
            <p:grpSpPr>
              <a:xfrm>
                <a:off x="0" y="0"/>
                <a:ext cx="5618137" cy="811494"/>
                <a:chOff x="0" y="0"/>
                <a:chExt cx="5618137" cy="811494"/>
              </a:xfrm>
            </p:grpSpPr>
            <p:sp>
              <p:nvSpPr>
                <p:cNvPr id="139" name="Freeform 29" descr="t1.3">
                  <a:extLst>
                    <a:ext uri="{FF2B5EF4-FFF2-40B4-BE49-F238E27FC236}">
                      <a16:creationId xmlns:a16="http://schemas.microsoft.com/office/drawing/2014/main" id="{BABBE93E-6F07-0F5F-6918-E743C814C8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618140" cy="811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8140" h="811496">
                      <a:moveTo>
                        <a:pt x="0" y="0"/>
                      </a:moveTo>
                      <a:lnTo>
                        <a:pt x="5618140" y="0"/>
                      </a:lnTo>
                      <a:lnTo>
                        <a:pt x="5618140" y="811496"/>
                      </a:lnTo>
                      <a:lnTo>
                        <a:pt x="0" y="811496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40" name="TextBox 30">
                  <a:extLst>
                    <a:ext uri="{FF2B5EF4-FFF2-40B4-BE49-F238E27FC236}">
                      <a16:creationId xmlns:a16="http://schemas.microsoft.com/office/drawing/2014/main" id="{EBE25DA9-F791-055D-FA43-512C663BB70E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5618137" cy="801969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r"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上线准备充分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41" name="Group 31">
              <a:extLst>
                <a:ext uri="{FF2B5EF4-FFF2-40B4-BE49-F238E27FC236}">
                  <a16:creationId xmlns:a16="http://schemas.microsoft.com/office/drawing/2014/main" id="{379182D1-26A5-B99C-D1EE-99A8AE83E08A}"/>
                </a:ext>
              </a:extLst>
            </p:cNvPr>
            <p:cNvGrpSpPr/>
            <p:nvPr/>
          </p:nvGrpSpPr>
          <p:grpSpPr>
            <a:xfrm>
              <a:off x="587562" y="2130260"/>
              <a:ext cx="2106802" cy="452818"/>
              <a:chOff x="0" y="0"/>
              <a:chExt cx="5618137" cy="1207515"/>
            </a:xfrm>
          </p:grpSpPr>
          <p:sp>
            <p:nvSpPr>
              <p:cNvPr id="142" name="TextBox 32">
                <a:extLst>
                  <a:ext uri="{FF2B5EF4-FFF2-40B4-BE49-F238E27FC236}">
                    <a16:creationId xmlns:a16="http://schemas.microsoft.com/office/drawing/2014/main" id="{85A0F5F8-EB0E-419A-C0A2-58C507B7B621}"/>
                  </a:ext>
                </a:extLst>
              </p:cNvPr>
              <p:cNvSpPr txBox="1"/>
              <p:nvPr/>
            </p:nvSpPr>
            <p:spPr>
              <a:xfrm>
                <a:off x="7277" y="796291"/>
                <a:ext cx="5610860" cy="4112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r">
                  <a:lnSpc>
                    <a:spcPts val="144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 </a:t>
                </a:r>
                <a:r>
                  <a:rPr lang="zh-CN" altLang="en-US" sz="900" dirty="0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设计大于编码</a:t>
                </a:r>
                <a:endParaRPr lang="en-US" sz="900" dirty="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endParaRPr>
              </a:p>
            </p:txBody>
          </p:sp>
          <p:grpSp>
            <p:nvGrpSpPr>
              <p:cNvPr id="143" name="Group 33">
                <a:extLst>
                  <a:ext uri="{FF2B5EF4-FFF2-40B4-BE49-F238E27FC236}">
                    <a16:creationId xmlns:a16="http://schemas.microsoft.com/office/drawing/2014/main" id="{163B49CC-DEAA-A8AF-723B-67F16FB3234F}"/>
                  </a:ext>
                </a:extLst>
              </p:cNvPr>
              <p:cNvGrpSpPr/>
              <p:nvPr/>
            </p:nvGrpSpPr>
            <p:grpSpPr>
              <a:xfrm>
                <a:off x="0" y="0"/>
                <a:ext cx="5618137" cy="811494"/>
                <a:chOff x="0" y="0"/>
                <a:chExt cx="5618137" cy="811494"/>
              </a:xfrm>
            </p:grpSpPr>
            <p:sp>
              <p:nvSpPr>
                <p:cNvPr id="144" name="Freeform 34" descr="t1.1">
                  <a:extLst>
                    <a:ext uri="{FF2B5EF4-FFF2-40B4-BE49-F238E27FC236}">
                      <a16:creationId xmlns:a16="http://schemas.microsoft.com/office/drawing/2014/main" id="{0F5D2550-A964-EE58-9D0A-E8147A9F7B9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618140" cy="811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8140" h="811496">
                      <a:moveTo>
                        <a:pt x="0" y="0"/>
                      </a:moveTo>
                      <a:lnTo>
                        <a:pt x="5618140" y="0"/>
                      </a:lnTo>
                      <a:lnTo>
                        <a:pt x="5618140" y="811496"/>
                      </a:lnTo>
                      <a:lnTo>
                        <a:pt x="0" y="811496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45" name="TextBox 35">
                  <a:extLst>
                    <a:ext uri="{FF2B5EF4-FFF2-40B4-BE49-F238E27FC236}">
                      <a16:creationId xmlns:a16="http://schemas.microsoft.com/office/drawing/2014/main" id="{4CAADBFE-8456-533F-4576-992307DDBCBB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5618137" cy="801969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r"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先设计输出文档后编码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46" name="Group 36">
              <a:extLst>
                <a:ext uri="{FF2B5EF4-FFF2-40B4-BE49-F238E27FC236}">
                  <a16:creationId xmlns:a16="http://schemas.microsoft.com/office/drawing/2014/main" id="{FE1FB579-53C4-F9B3-F0D7-9152001EFD9A}"/>
                </a:ext>
              </a:extLst>
            </p:cNvPr>
            <p:cNvGrpSpPr/>
            <p:nvPr/>
          </p:nvGrpSpPr>
          <p:grpSpPr>
            <a:xfrm>
              <a:off x="2808664" y="2181923"/>
              <a:ext cx="401374" cy="401374"/>
              <a:chOff x="0" y="0"/>
              <a:chExt cx="1070331" cy="1070331"/>
            </a:xfrm>
          </p:grpSpPr>
          <p:sp>
            <p:nvSpPr>
              <p:cNvPr id="147" name="Freeform 37">
                <a:extLst>
                  <a:ext uri="{FF2B5EF4-FFF2-40B4-BE49-F238E27FC236}">
                    <a16:creationId xmlns:a16="http://schemas.microsoft.com/office/drawing/2014/main" id="{BFA614D9-1AB3-6492-EA83-38924BA3214B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BC5858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148" name="Group 38">
              <a:extLst>
                <a:ext uri="{FF2B5EF4-FFF2-40B4-BE49-F238E27FC236}">
                  <a16:creationId xmlns:a16="http://schemas.microsoft.com/office/drawing/2014/main" id="{672BAB8E-0E0A-1A51-F8FC-0C29E4DD8CD6}"/>
                </a:ext>
              </a:extLst>
            </p:cNvPr>
            <p:cNvGrpSpPr/>
            <p:nvPr/>
          </p:nvGrpSpPr>
          <p:grpSpPr>
            <a:xfrm>
              <a:off x="2808664" y="3986558"/>
              <a:ext cx="401374" cy="401374"/>
              <a:chOff x="0" y="0"/>
              <a:chExt cx="1070331" cy="1070331"/>
            </a:xfrm>
          </p:grpSpPr>
          <p:sp>
            <p:nvSpPr>
              <p:cNvPr id="149" name="Freeform 39">
                <a:extLst>
                  <a:ext uri="{FF2B5EF4-FFF2-40B4-BE49-F238E27FC236}">
                    <a16:creationId xmlns:a16="http://schemas.microsoft.com/office/drawing/2014/main" id="{698D742E-5EEE-B606-356D-2410B3EB0B5F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BC5858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150" name="Group 40">
              <a:extLst>
                <a:ext uri="{FF2B5EF4-FFF2-40B4-BE49-F238E27FC236}">
                  <a16:creationId xmlns:a16="http://schemas.microsoft.com/office/drawing/2014/main" id="{EC9E971A-91FE-AAB1-DE0E-7B70FA476C12}"/>
                </a:ext>
              </a:extLst>
            </p:cNvPr>
            <p:cNvGrpSpPr/>
            <p:nvPr/>
          </p:nvGrpSpPr>
          <p:grpSpPr>
            <a:xfrm>
              <a:off x="2808664" y="3046288"/>
              <a:ext cx="401374" cy="401374"/>
              <a:chOff x="0" y="0"/>
              <a:chExt cx="1070331" cy="1070331"/>
            </a:xfrm>
          </p:grpSpPr>
          <p:sp>
            <p:nvSpPr>
              <p:cNvPr id="151" name="Freeform 41">
                <a:extLst>
                  <a:ext uri="{FF2B5EF4-FFF2-40B4-BE49-F238E27FC236}">
                    <a16:creationId xmlns:a16="http://schemas.microsoft.com/office/drawing/2014/main" id="{3D3C8309-DBE5-775E-35F3-4E74FBFB8712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BC5858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152" name="Freeform 42">
              <a:extLst>
                <a:ext uri="{FF2B5EF4-FFF2-40B4-BE49-F238E27FC236}">
                  <a16:creationId xmlns:a16="http://schemas.microsoft.com/office/drawing/2014/main" id="{7CE6BF01-9873-62C9-653B-B01ECDE28DCE}"/>
                </a:ext>
              </a:extLst>
            </p:cNvPr>
            <p:cNvSpPr/>
            <p:nvPr/>
          </p:nvSpPr>
          <p:spPr>
            <a:xfrm>
              <a:off x="2927861" y="2305265"/>
              <a:ext cx="162981" cy="154695"/>
            </a:xfrm>
            <a:custGeom>
              <a:avLst/>
              <a:gdLst/>
              <a:ahLst/>
              <a:cxnLst/>
              <a:rect l="l" t="t" r="r" b="b"/>
              <a:pathLst>
                <a:path w="325962" h="309390">
                  <a:moveTo>
                    <a:pt x="0" y="0"/>
                  </a:moveTo>
                  <a:lnTo>
                    <a:pt x="325962" y="0"/>
                  </a:lnTo>
                  <a:lnTo>
                    <a:pt x="325962" y="309390"/>
                  </a:lnTo>
                  <a:lnTo>
                    <a:pt x="0" y="30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43">
              <a:extLst>
                <a:ext uri="{FF2B5EF4-FFF2-40B4-BE49-F238E27FC236}">
                  <a16:creationId xmlns:a16="http://schemas.microsoft.com/office/drawing/2014/main" id="{E65567E0-933B-BFD5-0481-0A9DFB62B722}"/>
                </a:ext>
              </a:extLst>
            </p:cNvPr>
            <p:cNvSpPr/>
            <p:nvPr/>
          </p:nvSpPr>
          <p:spPr>
            <a:xfrm>
              <a:off x="2927861" y="3175578"/>
              <a:ext cx="162981" cy="142796"/>
            </a:xfrm>
            <a:custGeom>
              <a:avLst/>
              <a:gdLst/>
              <a:ahLst/>
              <a:cxnLst/>
              <a:rect l="l" t="t" r="r" b="b"/>
              <a:pathLst>
                <a:path w="325962" h="285591">
                  <a:moveTo>
                    <a:pt x="0" y="0"/>
                  </a:moveTo>
                  <a:lnTo>
                    <a:pt x="325962" y="0"/>
                  </a:lnTo>
                  <a:lnTo>
                    <a:pt x="325962" y="285590"/>
                  </a:lnTo>
                  <a:lnTo>
                    <a:pt x="0" y="28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4" name="Freeform 44">
              <a:extLst>
                <a:ext uri="{FF2B5EF4-FFF2-40B4-BE49-F238E27FC236}">
                  <a16:creationId xmlns:a16="http://schemas.microsoft.com/office/drawing/2014/main" id="{69FF9DD8-DF3B-5C1E-EAB9-2F69BF50A25E}"/>
                </a:ext>
              </a:extLst>
            </p:cNvPr>
            <p:cNvSpPr/>
            <p:nvPr/>
          </p:nvSpPr>
          <p:spPr>
            <a:xfrm>
              <a:off x="2943325" y="4106332"/>
              <a:ext cx="132050" cy="161832"/>
            </a:xfrm>
            <a:custGeom>
              <a:avLst/>
              <a:gdLst/>
              <a:ahLst/>
              <a:cxnLst/>
              <a:rect l="l" t="t" r="r" b="b"/>
              <a:pathLst>
                <a:path w="264099" h="323664">
                  <a:moveTo>
                    <a:pt x="0" y="0"/>
                  </a:moveTo>
                  <a:lnTo>
                    <a:pt x="264099" y="0"/>
                  </a:lnTo>
                  <a:lnTo>
                    <a:pt x="264099" y="323664"/>
                  </a:lnTo>
                  <a:lnTo>
                    <a:pt x="0" y="32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5" name="Group 45">
              <a:extLst>
                <a:ext uri="{FF2B5EF4-FFF2-40B4-BE49-F238E27FC236}">
                  <a16:creationId xmlns:a16="http://schemas.microsoft.com/office/drawing/2014/main" id="{1345109C-F082-84AC-3FB2-2291BD6728A0}"/>
                </a:ext>
              </a:extLst>
            </p:cNvPr>
            <p:cNvGrpSpPr/>
            <p:nvPr/>
          </p:nvGrpSpPr>
          <p:grpSpPr>
            <a:xfrm>
              <a:off x="6565043" y="3017732"/>
              <a:ext cx="2252163" cy="449675"/>
              <a:chOff x="-121920" y="2157"/>
              <a:chExt cx="6005766" cy="1199133"/>
            </a:xfrm>
          </p:grpSpPr>
          <p:sp>
            <p:nvSpPr>
              <p:cNvPr id="156" name="TextBox 46">
                <a:extLst>
                  <a:ext uri="{FF2B5EF4-FFF2-40B4-BE49-F238E27FC236}">
                    <a16:creationId xmlns:a16="http://schemas.microsoft.com/office/drawing/2014/main" id="{F5D07CA1-E9FD-BF72-B55E-B85CB3F5E5B7}"/>
                  </a:ext>
                </a:extLst>
              </p:cNvPr>
              <p:cNvSpPr txBox="1"/>
              <p:nvPr/>
            </p:nvSpPr>
            <p:spPr>
              <a:xfrm>
                <a:off x="0" y="790066"/>
                <a:ext cx="5640006" cy="4112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440"/>
                  </a:lnSpc>
                </a:pPr>
                <a:r>
                  <a:rPr lang="zh-CN" altLang="en-US" sz="900" dirty="0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删掉了很多代码，但不彻底</a:t>
                </a:r>
                <a:endParaRPr lang="en-US" sz="900" dirty="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endParaRPr>
              </a:p>
            </p:txBody>
          </p:sp>
          <p:grpSp>
            <p:nvGrpSpPr>
              <p:cNvPr id="157" name="Group 47">
                <a:extLst>
                  <a:ext uri="{FF2B5EF4-FFF2-40B4-BE49-F238E27FC236}">
                    <a16:creationId xmlns:a16="http://schemas.microsoft.com/office/drawing/2014/main" id="{1ADEFC28-3701-6857-62A0-D8D7BA86AC03}"/>
                  </a:ext>
                </a:extLst>
              </p:cNvPr>
              <p:cNvGrpSpPr/>
              <p:nvPr/>
            </p:nvGrpSpPr>
            <p:grpSpPr>
              <a:xfrm>
                <a:off x="-121920" y="2157"/>
                <a:ext cx="6005766" cy="805354"/>
                <a:chOff x="-121920" y="2157"/>
                <a:chExt cx="6005766" cy="805354"/>
              </a:xfrm>
            </p:grpSpPr>
            <p:sp>
              <p:nvSpPr>
                <p:cNvPr id="158" name="Freeform 48" descr="t2.2">
                  <a:extLst>
                    <a:ext uri="{FF2B5EF4-FFF2-40B4-BE49-F238E27FC236}">
                      <a16:creationId xmlns:a16="http://schemas.microsoft.com/office/drawing/2014/main" id="{BE7A2230-B67F-1D92-42ED-7553FAED3F87}"/>
                    </a:ext>
                  </a:extLst>
                </p:cNvPr>
                <p:cNvSpPr/>
                <p:nvPr/>
              </p:nvSpPr>
              <p:spPr>
                <a:xfrm>
                  <a:off x="-121920" y="2157"/>
                  <a:ext cx="5883843" cy="805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3844" h="805354">
                      <a:moveTo>
                        <a:pt x="0" y="0"/>
                      </a:moveTo>
                      <a:lnTo>
                        <a:pt x="5883844" y="0"/>
                      </a:lnTo>
                      <a:lnTo>
                        <a:pt x="5883844" y="805354"/>
                      </a:lnTo>
                      <a:lnTo>
                        <a:pt x="0" y="80535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59" name="TextBox 49">
                  <a:extLst>
                    <a:ext uri="{FF2B5EF4-FFF2-40B4-BE49-F238E27FC236}">
                      <a16:creationId xmlns:a16="http://schemas.microsoft.com/office/drawing/2014/main" id="{DA8F004B-E7E1-0750-0BE7-38BABD561CF3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5883846" cy="79582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仍然存留了一些冗余代码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60" name="Group 50">
              <a:extLst>
                <a:ext uri="{FF2B5EF4-FFF2-40B4-BE49-F238E27FC236}">
                  <a16:creationId xmlns:a16="http://schemas.microsoft.com/office/drawing/2014/main" id="{1DCEFCB0-8402-7C5E-C0A1-DCC971CDEE37}"/>
                </a:ext>
              </a:extLst>
            </p:cNvPr>
            <p:cNvGrpSpPr/>
            <p:nvPr/>
          </p:nvGrpSpPr>
          <p:grpSpPr>
            <a:xfrm>
              <a:off x="6610762" y="3910416"/>
              <a:ext cx="2688826" cy="459824"/>
              <a:chOff x="-3" y="0"/>
              <a:chExt cx="7170201" cy="1226197"/>
            </a:xfrm>
          </p:grpSpPr>
          <p:sp>
            <p:nvSpPr>
              <p:cNvPr id="161" name="TextBox 51">
                <a:extLst>
                  <a:ext uri="{FF2B5EF4-FFF2-40B4-BE49-F238E27FC236}">
                    <a16:creationId xmlns:a16="http://schemas.microsoft.com/office/drawing/2014/main" id="{02B00F92-7F06-0283-688A-F53455271158}"/>
                  </a:ext>
                </a:extLst>
              </p:cNvPr>
              <p:cNvSpPr txBox="1"/>
              <p:nvPr/>
            </p:nvSpPr>
            <p:spPr>
              <a:xfrm>
                <a:off x="0" y="814973"/>
                <a:ext cx="5640006" cy="4112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44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阿里巴巴普惠体"/>
                    <a:ea typeface="阿里巴巴普惠体"/>
                    <a:cs typeface="阿里巴巴普惠体"/>
                    <a:sym typeface="阿里巴巴普惠体"/>
                  </a:rPr>
                  <a:t>单击此处添加正文，文字是您思想的提炼</a:t>
                </a:r>
              </a:p>
            </p:txBody>
          </p:sp>
          <p:grpSp>
            <p:nvGrpSpPr>
              <p:cNvPr id="162" name="Group 52">
                <a:extLst>
                  <a:ext uri="{FF2B5EF4-FFF2-40B4-BE49-F238E27FC236}">
                    <a16:creationId xmlns:a16="http://schemas.microsoft.com/office/drawing/2014/main" id="{FB326637-85B0-39F9-8418-AEAD499C895C}"/>
                  </a:ext>
                </a:extLst>
              </p:cNvPr>
              <p:cNvGrpSpPr/>
              <p:nvPr/>
            </p:nvGrpSpPr>
            <p:grpSpPr>
              <a:xfrm>
                <a:off x="-3" y="0"/>
                <a:ext cx="7170201" cy="830209"/>
                <a:chOff x="-3" y="0"/>
                <a:chExt cx="7170201" cy="830209"/>
              </a:xfrm>
            </p:grpSpPr>
            <p:sp>
              <p:nvSpPr>
                <p:cNvPr id="163" name="Freeform 53" descr="t2.3">
                  <a:extLst>
                    <a:ext uri="{FF2B5EF4-FFF2-40B4-BE49-F238E27FC236}">
                      <a16:creationId xmlns:a16="http://schemas.microsoft.com/office/drawing/2014/main" id="{224A084E-10A3-2CDF-17C3-D7351D17C9B4}"/>
                    </a:ext>
                  </a:extLst>
                </p:cNvPr>
                <p:cNvSpPr/>
                <p:nvPr/>
              </p:nvSpPr>
              <p:spPr>
                <a:xfrm>
                  <a:off x="-3" y="0"/>
                  <a:ext cx="6307457" cy="830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3844" h="830209">
                      <a:moveTo>
                        <a:pt x="0" y="0"/>
                      </a:moveTo>
                      <a:lnTo>
                        <a:pt x="5883844" y="0"/>
                      </a:lnTo>
                      <a:lnTo>
                        <a:pt x="5883844" y="830209"/>
                      </a:lnTo>
                      <a:lnTo>
                        <a:pt x="0" y="830209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64" name="TextBox 54">
                  <a:extLst>
                    <a:ext uri="{FF2B5EF4-FFF2-40B4-BE49-F238E27FC236}">
                      <a16:creationId xmlns:a16="http://schemas.microsoft.com/office/drawing/2014/main" id="{F0CEBE87-2169-C259-3E62-F8F4B5C43F44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7170198" cy="820678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业务逻辑很多细节理解不充分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65" name="Group 55">
              <a:extLst>
                <a:ext uri="{FF2B5EF4-FFF2-40B4-BE49-F238E27FC236}">
                  <a16:creationId xmlns:a16="http://schemas.microsoft.com/office/drawing/2014/main" id="{2FFD650F-84E5-F6C3-8999-B8209CA72D2C}"/>
                </a:ext>
              </a:extLst>
            </p:cNvPr>
            <p:cNvGrpSpPr/>
            <p:nvPr/>
          </p:nvGrpSpPr>
          <p:grpSpPr>
            <a:xfrm>
              <a:off x="6610763" y="2124445"/>
              <a:ext cx="2222410" cy="449232"/>
              <a:chOff x="0" y="9525"/>
              <a:chExt cx="5926425" cy="1197952"/>
            </a:xfrm>
          </p:grpSpPr>
          <p:sp>
            <p:nvSpPr>
              <p:cNvPr id="166" name="TextBox 56">
                <a:extLst>
                  <a:ext uri="{FF2B5EF4-FFF2-40B4-BE49-F238E27FC236}">
                    <a16:creationId xmlns:a16="http://schemas.microsoft.com/office/drawing/2014/main" id="{2E3A543F-D684-FF87-5D46-7078C976ED08}"/>
                  </a:ext>
                </a:extLst>
              </p:cNvPr>
              <p:cNvSpPr txBox="1"/>
              <p:nvPr/>
            </p:nvSpPr>
            <p:spPr>
              <a:xfrm>
                <a:off x="0" y="796253"/>
                <a:ext cx="5640006" cy="4112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440"/>
                  </a:lnSpc>
                </a:pPr>
                <a:endParaRPr lang="en-US" sz="900" dirty="0">
                  <a:solidFill>
                    <a:srgbClr val="000000"/>
                  </a:solidFill>
                  <a:latin typeface="阿里巴巴普惠体"/>
                  <a:ea typeface="阿里巴巴普惠体"/>
                  <a:cs typeface="阿里巴巴普惠体"/>
                  <a:sym typeface="阿里巴巴普惠体"/>
                </a:endParaRPr>
              </a:p>
            </p:txBody>
          </p:sp>
          <p:grpSp>
            <p:nvGrpSpPr>
              <p:cNvPr id="167" name="Group 57">
                <a:extLst>
                  <a:ext uri="{FF2B5EF4-FFF2-40B4-BE49-F238E27FC236}">
                    <a16:creationId xmlns:a16="http://schemas.microsoft.com/office/drawing/2014/main" id="{816C9F5C-85B3-CB75-2D58-22C2AC2F44F4}"/>
                  </a:ext>
                </a:extLst>
              </p:cNvPr>
              <p:cNvGrpSpPr/>
              <p:nvPr/>
            </p:nvGrpSpPr>
            <p:grpSpPr>
              <a:xfrm>
                <a:off x="0" y="9525"/>
                <a:ext cx="5926425" cy="847540"/>
                <a:chOff x="0" y="9525"/>
                <a:chExt cx="5926425" cy="847540"/>
              </a:xfrm>
            </p:grpSpPr>
            <p:sp>
              <p:nvSpPr>
                <p:cNvPr id="168" name="Freeform 58" descr="t2.1">
                  <a:extLst>
                    <a:ext uri="{FF2B5EF4-FFF2-40B4-BE49-F238E27FC236}">
                      <a16:creationId xmlns:a16="http://schemas.microsoft.com/office/drawing/2014/main" id="{14E6BD9F-BD07-8FA3-45E1-7F21FE3B23D4}"/>
                    </a:ext>
                  </a:extLst>
                </p:cNvPr>
                <p:cNvSpPr/>
                <p:nvPr/>
              </p:nvSpPr>
              <p:spPr>
                <a:xfrm>
                  <a:off x="42582" y="45568"/>
                  <a:ext cx="5883843" cy="811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3844" h="811496">
                      <a:moveTo>
                        <a:pt x="0" y="0"/>
                      </a:moveTo>
                      <a:lnTo>
                        <a:pt x="5883844" y="0"/>
                      </a:lnTo>
                      <a:lnTo>
                        <a:pt x="5883844" y="811496"/>
                      </a:lnTo>
                      <a:lnTo>
                        <a:pt x="0" y="811496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>
                  <a:solidFill>
                    <a:srgbClr val="000000"/>
                  </a:solidFill>
                </a:ln>
              </p:spPr>
            </p:sp>
            <p:sp>
              <p:nvSpPr>
                <p:cNvPr id="169" name="TextBox 59">
                  <a:extLst>
                    <a:ext uri="{FF2B5EF4-FFF2-40B4-BE49-F238E27FC236}">
                      <a16:creationId xmlns:a16="http://schemas.microsoft.com/office/drawing/2014/main" id="{A5009656-0314-E3DA-5A21-C7E2E9C0ABA8}"/>
                    </a:ext>
                  </a:extLst>
                </p:cNvPr>
                <p:cNvSpPr txBox="1"/>
                <p:nvPr/>
              </p:nvSpPr>
              <p:spPr>
                <a:xfrm>
                  <a:off x="0" y="9525"/>
                  <a:ext cx="5883846" cy="801969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>
                    <a:lnSpc>
                      <a:spcPts val="1680"/>
                    </a:lnSpc>
                  </a:pPr>
                  <a:r>
                    <a:rPr lang="zh-CN" altLang="en-US" sz="1400" b="1" dirty="0">
                      <a:solidFill>
                        <a:srgbClr val="000000"/>
                      </a:solidFill>
                      <a:latin typeface="阿里巴巴普惠体 Bold"/>
                      <a:ea typeface="阿里巴巴普惠体 Bold"/>
                      <a:cs typeface="阿里巴巴普惠体 Bold"/>
                      <a:sym typeface="阿里巴巴普惠体 Bold"/>
                    </a:rPr>
                    <a:t>功能设计有遗漏</a:t>
                  </a:r>
                  <a:endParaRPr lang="en-US" sz="1400" b="1" dirty="0">
                    <a:solidFill>
                      <a:srgbClr val="000000"/>
                    </a:solidFill>
                    <a:latin typeface="阿里巴巴普惠体 Bold"/>
                    <a:ea typeface="阿里巴巴普惠体 Bold"/>
                    <a:cs typeface="阿里巴巴普惠体 Bold"/>
                    <a:sym typeface="阿里巴巴普惠体 Bold"/>
                  </a:endParaRPr>
                </a:p>
              </p:txBody>
            </p:sp>
          </p:grpSp>
        </p:grpSp>
        <p:grpSp>
          <p:nvGrpSpPr>
            <p:cNvPr id="170" name="Group 60">
              <a:extLst>
                <a:ext uri="{FF2B5EF4-FFF2-40B4-BE49-F238E27FC236}">
                  <a16:creationId xmlns:a16="http://schemas.microsoft.com/office/drawing/2014/main" id="{C1AACE12-620F-1B7F-7481-8BD6CA56A292}"/>
                </a:ext>
              </a:extLst>
            </p:cNvPr>
            <p:cNvGrpSpPr/>
            <p:nvPr/>
          </p:nvGrpSpPr>
          <p:grpSpPr>
            <a:xfrm>
              <a:off x="6095089" y="2181923"/>
              <a:ext cx="401374" cy="401374"/>
              <a:chOff x="0" y="0"/>
              <a:chExt cx="1070331" cy="1070331"/>
            </a:xfrm>
          </p:grpSpPr>
          <p:sp>
            <p:nvSpPr>
              <p:cNvPr id="171" name="Freeform 61">
                <a:extLst>
                  <a:ext uri="{FF2B5EF4-FFF2-40B4-BE49-F238E27FC236}">
                    <a16:creationId xmlns:a16="http://schemas.microsoft.com/office/drawing/2014/main" id="{28B54702-C698-FC5B-788C-85FCC06EA973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172" name="Group 62">
              <a:extLst>
                <a:ext uri="{FF2B5EF4-FFF2-40B4-BE49-F238E27FC236}">
                  <a16:creationId xmlns:a16="http://schemas.microsoft.com/office/drawing/2014/main" id="{457CA4F8-7352-C912-540E-28D46EB8D8C3}"/>
                </a:ext>
              </a:extLst>
            </p:cNvPr>
            <p:cNvGrpSpPr/>
            <p:nvPr/>
          </p:nvGrpSpPr>
          <p:grpSpPr>
            <a:xfrm>
              <a:off x="6095089" y="3986558"/>
              <a:ext cx="401374" cy="401374"/>
              <a:chOff x="0" y="0"/>
              <a:chExt cx="1070331" cy="1070331"/>
            </a:xfrm>
          </p:grpSpPr>
          <p:sp>
            <p:nvSpPr>
              <p:cNvPr id="173" name="Freeform 63">
                <a:extLst>
                  <a:ext uri="{FF2B5EF4-FFF2-40B4-BE49-F238E27FC236}">
                    <a16:creationId xmlns:a16="http://schemas.microsoft.com/office/drawing/2014/main" id="{3D254476-C765-4B1D-F03F-1DB072F10EE5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263DD8F0-E790-4B45-9B0E-1A9838E6D281}"/>
                </a:ext>
              </a:extLst>
            </p:cNvPr>
            <p:cNvGrpSpPr/>
            <p:nvPr/>
          </p:nvGrpSpPr>
          <p:grpSpPr>
            <a:xfrm>
              <a:off x="6095089" y="3046288"/>
              <a:ext cx="401374" cy="401374"/>
              <a:chOff x="0" y="0"/>
              <a:chExt cx="1070331" cy="1070331"/>
            </a:xfrm>
          </p:grpSpPr>
          <p:sp>
            <p:nvSpPr>
              <p:cNvPr id="175" name="Freeform 65">
                <a:extLst>
                  <a:ext uri="{FF2B5EF4-FFF2-40B4-BE49-F238E27FC236}">
                    <a16:creationId xmlns:a16="http://schemas.microsoft.com/office/drawing/2014/main" id="{1D3B950F-E0F4-EFCC-869C-44B1BF405D2C}"/>
                  </a:ext>
                </a:extLst>
              </p:cNvPr>
              <p:cNvSpPr/>
              <p:nvPr/>
            </p:nvSpPr>
            <p:spPr>
              <a:xfrm>
                <a:off x="0" y="0"/>
                <a:ext cx="1070356" cy="1070356"/>
              </a:xfrm>
              <a:custGeom>
                <a:avLst/>
                <a:gdLst/>
                <a:ahLst/>
                <a:cxnLst/>
                <a:rect l="l" t="t" r="r" b="b"/>
                <a:pathLst>
                  <a:path w="1070356" h="1070356">
                    <a:moveTo>
                      <a:pt x="0" y="535178"/>
                    </a:moveTo>
                    <a:cubicBezTo>
                      <a:pt x="0" y="239649"/>
                      <a:pt x="239649" y="0"/>
                      <a:pt x="535178" y="0"/>
                    </a:cubicBezTo>
                    <a:lnTo>
                      <a:pt x="535178" y="12700"/>
                    </a:lnTo>
                    <a:lnTo>
                      <a:pt x="535178" y="0"/>
                    </a:lnTo>
                    <a:cubicBezTo>
                      <a:pt x="830707" y="0"/>
                      <a:pt x="1070356" y="239649"/>
                      <a:pt x="1070356" y="535178"/>
                    </a:cubicBezTo>
                    <a:lnTo>
                      <a:pt x="1057656" y="535178"/>
                    </a:lnTo>
                    <a:lnTo>
                      <a:pt x="1070356" y="535178"/>
                    </a:lnTo>
                    <a:cubicBezTo>
                      <a:pt x="1070356" y="830707"/>
                      <a:pt x="830707" y="1070356"/>
                      <a:pt x="535178" y="1070356"/>
                    </a:cubicBezTo>
                    <a:lnTo>
                      <a:pt x="535178" y="1057656"/>
                    </a:lnTo>
                    <a:lnTo>
                      <a:pt x="535178" y="1070356"/>
                    </a:lnTo>
                    <a:cubicBezTo>
                      <a:pt x="239649" y="1070356"/>
                      <a:pt x="0" y="830707"/>
                      <a:pt x="0" y="535178"/>
                    </a:cubicBezTo>
                    <a:lnTo>
                      <a:pt x="12700" y="535178"/>
                    </a:lnTo>
                    <a:lnTo>
                      <a:pt x="25400" y="535178"/>
                    </a:lnTo>
                    <a:lnTo>
                      <a:pt x="12700" y="535178"/>
                    </a:lnTo>
                    <a:lnTo>
                      <a:pt x="0" y="535178"/>
                    </a:lnTo>
                    <a:moveTo>
                      <a:pt x="25400" y="535178"/>
                    </a:moveTo>
                    <a:cubicBezTo>
                      <a:pt x="25400" y="542163"/>
                      <a:pt x="19685" y="547878"/>
                      <a:pt x="12700" y="547878"/>
                    </a:cubicBezTo>
                    <a:cubicBezTo>
                      <a:pt x="5715" y="547878"/>
                      <a:pt x="0" y="542163"/>
                      <a:pt x="0" y="535178"/>
                    </a:cubicBezTo>
                    <a:cubicBezTo>
                      <a:pt x="0" y="528193"/>
                      <a:pt x="5715" y="522478"/>
                      <a:pt x="12700" y="522478"/>
                    </a:cubicBezTo>
                    <a:cubicBezTo>
                      <a:pt x="19685" y="522478"/>
                      <a:pt x="25400" y="528193"/>
                      <a:pt x="25400" y="535178"/>
                    </a:cubicBezTo>
                    <a:cubicBezTo>
                      <a:pt x="25400" y="816737"/>
                      <a:pt x="253619" y="1044956"/>
                      <a:pt x="535178" y="1044956"/>
                    </a:cubicBezTo>
                    <a:cubicBezTo>
                      <a:pt x="816737" y="1044956"/>
                      <a:pt x="1044956" y="816737"/>
                      <a:pt x="1044956" y="535178"/>
                    </a:cubicBezTo>
                    <a:cubicBezTo>
                      <a:pt x="1044956" y="253619"/>
                      <a:pt x="816737" y="25400"/>
                      <a:pt x="535178" y="25400"/>
                    </a:cubicBezTo>
                    <a:lnTo>
                      <a:pt x="535178" y="12700"/>
                    </a:lnTo>
                    <a:lnTo>
                      <a:pt x="535178" y="25400"/>
                    </a:lnTo>
                    <a:cubicBezTo>
                      <a:pt x="253619" y="25400"/>
                      <a:pt x="25400" y="253619"/>
                      <a:pt x="25400" y="535178"/>
                    </a:cubicBezTo>
                    <a:close/>
                  </a:path>
                </a:pathLst>
              </a:custGeom>
              <a:solidFill>
                <a:srgbClr val="808080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176" name="Freeform 66">
              <a:extLst>
                <a:ext uri="{FF2B5EF4-FFF2-40B4-BE49-F238E27FC236}">
                  <a16:creationId xmlns:a16="http://schemas.microsoft.com/office/drawing/2014/main" id="{A8F1E71E-34ED-08A0-071D-0602EDDEC741}"/>
                </a:ext>
              </a:extLst>
            </p:cNvPr>
            <p:cNvSpPr/>
            <p:nvPr/>
          </p:nvSpPr>
          <p:spPr>
            <a:xfrm>
              <a:off x="6225348" y="2305266"/>
              <a:ext cx="162981" cy="154695"/>
            </a:xfrm>
            <a:custGeom>
              <a:avLst/>
              <a:gdLst/>
              <a:ahLst/>
              <a:cxnLst/>
              <a:rect l="l" t="t" r="r" b="b"/>
              <a:pathLst>
                <a:path w="325962" h="309390">
                  <a:moveTo>
                    <a:pt x="0" y="0"/>
                  </a:moveTo>
                  <a:lnTo>
                    <a:pt x="325962" y="0"/>
                  </a:lnTo>
                  <a:lnTo>
                    <a:pt x="325962" y="309390"/>
                  </a:lnTo>
                  <a:lnTo>
                    <a:pt x="0" y="30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7" name="Freeform 67">
              <a:extLst>
                <a:ext uri="{FF2B5EF4-FFF2-40B4-BE49-F238E27FC236}">
                  <a16:creationId xmlns:a16="http://schemas.microsoft.com/office/drawing/2014/main" id="{22AE4F97-F8F6-3C64-6D63-226C9E51806F}"/>
                </a:ext>
              </a:extLst>
            </p:cNvPr>
            <p:cNvSpPr/>
            <p:nvPr/>
          </p:nvSpPr>
          <p:spPr>
            <a:xfrm>
              <a:off x="6225348" y="3186639"/>
              <a:ext cx="162981" cy="142796"/>
            </a:xfrm>
            <a:custGeom>
              <a:avLst/>
              <a:gdLst/>
              <a:ahLst/>
              <a:cxnLst/>
              <a:rect l="l" t="t" r="r" b="b"/>
              <a:pathLst>
                <a:path w="325962" h="285591">
                  <a:moveTo>
                    <a:pt x="0" y="0"/>
                  </a:moveTo>
                  <a:lnTo>
                    <a:pt x="325962" y="0"/>
                  </a:lnTo>
                  <a:lnTo>
                    <a:pt x="325962" y="285591"/>
                  </a:lnTo>
                  <a:lnTo>
                    <a:pt x="0" y="285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8" name="Freeform 68">
              <a:extLst>
                <a:ext uri="{FF2B5EF4-FFF2-40B4-BE49-F238E27FC236}">
                  <a16:creationId xmlns:a16="http://schemas.microsoft.com/office/drawing/2014/main" id="{F502461A-28E1-42C8-FB83-6B3FCBBE760E}"/>
                </a:ext>
              </a:extLst>
            </p:cNvPr>
            <p:cNvSpPr/>
            <p:nvPr/>
          </p:nvSpPr>
          <p:spPr>
            <a:xfrm>
              <a:off x="6240812" y="4106332"/>
              <a:ext cx="132050" cy="161832"/>
            </a:xfrm>
            <a:custGeom>
              <a:avLst/>
              <a:gdLst/>
              <a:ahLst/>
              <a:cxnLst/>
              <a:rect l="l" t="t" r="r" b="b"/>
              <a:pathLst>
                <a:path w="264099" h="323664">
                  <a:moveTo>
                    <a:pt x="0" y="0"/>
                  </a:moveTo>
                  <a:lnTo>
                    <a:pt x="264099" y="0"/>
                  </a:lnTo>
                  <a:lnTo>
                    <a:pt x="264099" y="323664"/>
                  </a:lnTo>
                  <a:lnTo>
                    <a:pt x="0" y="32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A17A864C-7CD1-806E-9F35-5A44C2E2B538}"/>
                </a:ext>
              </a:extLst>
            </p:cNvPr>
            <p:cNvGrpSpPr/>
            <p:nvPr/>
          </p:nvGrpSpPr>
          <p:grpSpPr>
            <a:xfrm>
              <a:off x="4924656" y="2551561"/>
              <a:ext cx="957891" cy="947527"/>
              <a:chOff x="4496665" y="4269733"/>
              <a:chExt cx="957891" cy="947527"/>
            </a:xfrm>
          </p:grpSpPr>
          <p:sp>
            <p:nvSpPr>
              <p:cNvPr id="179" name="Oval 53">
                <a:extLst>
                  <a:ext uri="{FF2B5EF4-FFF2-40B4-BE49-F238E27FC236}">
                    <a16:creationId xmlns:a16="http://schemas.microsoft.com/office/drawing/2014/main" id="{A0CDBEF0-3C3F-02D6-822D-D31D3A5B8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6665" y="4269733"/>
                <a:ext cx="947329" cy="947527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FFFFF"/>
                  </a:gs>
                  <a:gs pos="0">
                    <a:srgbClr val="D9DEDF"/>
                  </a:gs>
                </a:gsLst>
                <a:lin ang="2700000" scaled="0"/>
                <a:tileRect/>
              </a:gradFill>
              <a:ln w="28575">
                <a:gradFill flip="none" rotWithShape="1">
                  <a:gsLst>
                    <a:gs pos="0">
                      <a:srgbClr val="FFFFFF"/>
                    </a:gs>
                    <a:gs pos="100000">
                      <a:srgbClr val="D9D9DA"/>
                    </a:gs>
                  </a:gsLst>
                  <a:lin ang="2700000" scaled="0"/>
                  <a:tileRect/>
                </a:gradFill>
              </a:ln>
              <a:effectLst>
                <a:outerShdw blurRad="1905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/>
              </a:p>
            </p:txBody>
          </p:sp>
          <p:sp>
            <p:nvSpPr>
              <p:cNvPr id="180" name="Text Box 73">
                <a:extLst>
                  <a:ext uri="{FF2B5EF4-FFF2-40B4-BE49-F238E27FC236}">
                    <a16:creationId xmlns:a16="http://schemas.microsoft.com/office/drawing/2014/main" id="{F97CF204-CB35-098B-E6D6-6AE0FFEC04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7227" y="4621527"/>
                <a:ext cx="947329" cy="323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buFontTx/>
                  <a:buNone/>
                </a:pPr>
                <a:r>
                  <a:rPr lang="zh-CN" altLang="en-US" sz="1500" dirty="0">
                    <a:solidFill>
                      <a:srgbClr val="2F5597"/>
                    </a:solidFill>
                    <a:ea typeface="方正兰亭大黑_GBK" pitchFamily="2" charset="-122"/>
                  </a:rPr>
                  <a:t>不足之处</a:t>
                </a:r>
              </a:p>
            </p:txBody>
          </p:sp>
        </p:grpSp>
        <p:sp>
          <p:nvSpPr>
            <p:cNvPr id="182" name="Oval 53">
              <a:extLst>
                <a:ext uri="{FF2B5EF4-FFF2-40B4-BE49-F238E27FC236}">
                  <a16:creationId xmlns:a16="http://schemas.microsoft.com/office/drawing/2014/main" id="{8081D09F-8FE7-1152-7528-60374DA8E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891" y="3318374"/>
              <a:ext cx="947329" cy="947527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184" name="Text Box 73">
              <a:extLst>
                <a:ext uri="{FF2B5EF4-FFF2-40B4-BE49-F238E27FC236}">
                  <a16:creationId xmlns:a16="http://schemas.microsoft.com/office/drawing/2014/main" id="{9FD7AC2F-0961-2535-4945-46C847675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9015" y="3630554"/>
              <a:ext cx="947329" cy="323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F8F9F9"/>
                  </a:solidFill>
                  <a:ea typeface="方正兰亭大黑_GBK" pitchFamily="2" charset="-122"/>
                </a:rPr>
                <a:t>满意之处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6816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2024-AA2D-3342-B426-C238E231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47742F6A-690E-1D44-F886-B1C40AD2408B}"/>
              </a:ext>
            </a:extLst>
          </p:cNvPr>
          <p:cNvSpPr/>
          <p:nvPr/>
        </p:nvSpPr>
        <p:spPr>
          <a:xfrm>
            <a:off x="899592" y="891467"/>
            <a:ext cx="7488832" cy="941621"/>
          </a:xfrm>
          <a:prstGeom prst="flowChartProcess">
            <a:avLst/>
          </a:prstGeom>
          <a:solidFill>
            <a:srgbClr val="F0F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chemeClr val="tx1"/>
                </a:solidFill>
              </a:rPr>
              <a:t>        </a:t>
            </a:r>
            <a:r>
              <a:rPr lang="zh-CN" altLang="en-US" sz="1100" dirty="0">
                <a:solidFill>
                  <a:schemeClr val="tx1"/>
                </a:solidFill>
              </a:rPr>
              <a:t>除了自己的开发任务以外，构建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zh-CN" altLang="en-US" sz="1100" dirty="0">
                <a:solidFill>
                  <a:schemeClr val="tx1"/>
                </a:solidFill>
              </a:rPr>
              <a:t>端业务知识库，技术设计文库</a:t>
            </a:r>
            <a:r>
              <a:rPr lang="en-US" altLang="zh-CN" sz="1100" dirty="0">
                <a:solidFill>
                  <a:schemeClr val="tx1"/>
                </a:solidFill>
              </a:rPr>
              <a:t>,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altLang="zh-CN" sz="1100" dirty="0">
                <a:solidFill>
                  <a:schemeClr val="tx1"/>
                </a:solidFill>
              </a:rPr>
              <a:t>FAQ</a:t>
            </a:r>
            <a:r>
              <a:rPr lang="zh-CN" altLang="en-US" sz="1100" dirty="0">
                <a:solidFill>
                  <a:schemeClr val="tx1"/>
                </a:solidFill>
              </a:rPr>
              <a:t>文库等。带领新同事熟悉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zh-CN" altLang="en-US" sz="1100" dirty="0">
                <a:solidFill>
                  <a:schemeClr val="tx1"/>
                </a:solidFill>
              </a:rPr>
              <a:t>端业务，项目技术栈，帮助他们快速上手加入到项目任务当中。</a:t>
            </a:r>
          </a:p>
        </p:txBody>
      </p:sp>
      <p:sp>
        <p:nvSpPr>
          <p:cNvPr id="90" name="矩形 3">
            <a:extLst>
              <a:ext uri="{FF2B5EF4-FFF2-40B4-BE49-F238E27FC236}">
                <a16:creationId xmlns:a16="http://schemas.microsoft.com/office/drawing/2014/main" id="{0A00AB37-4BB3-D1C2-564F-73D5733BC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690" y="195486"/>
            <a:ext cx="1266999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C6A480-B510-9D01-2C2D-F4B8ECD9FDC2}"/>
              </a:ext>
            </a:extLst>
          </p:cNvPr>
          <p:cNvSpPr txBox="1"/>
          <p:nvPr/>
        </p:nvSpPr>
        <p:spPr>
          <a:xfrm>
            <a:off x="971600" y="77155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端工作概况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59392B2-FE3C-E4D8-691B-1DFCA1361068}"/>
              </a:ext>
            </a:extLst>
          </p:cNvPr>
          <p:cNvGrpSpPr/>
          <p:nvPr/>
        </p:nvGrpSpPr>
        <p:grpSpPr>
          <a:xfrm>
            <a:off x="2910627" y="1900485"/>
            <a:ext cx="3322747" cy="3214737"/>
            <a:chOff x="763311" y="1082424"/>
            <a:chExt cx="3322747" cy="3214737"/>
          </a:xfrm>
        </p:grpSpPr>
        <p:grpSp>
          <p:nvGrpSpPr>
            <p:cNvPr id="42" name="Group 79">
              <a:extLst>
                <a:ext uri="{FF2B5EF4-FFF2-40B4-BE49-F238E27FC236}">
                  <a16:creationId xmlns:a16="http://schemas.microsoft.com/office/drawing/2014/main" id="{AC40B967-5EDA-C1AE-1913-91401FEA6E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156" y="1456987"/>
              <a:ext cx="2897311" cy="2840174"/>
              <a:chOff x="1344" y="-2424"/>
              <a:chExt cx="2434" cy="2386"/>
            </a:xfrm>
          </p:grpSpPr>
          <p:grpSp>
            <p:nvGrpSpPr>
              <p:cNvPr id="43" name="椭圆 34">
                <a:extLst>
                  <a:ext uri="{FF2B5EF4-FFF2-40B4-BE49-F238E27FC236}">
                    <a16:creationId xmlns:a16="http://schemas.microsoft.com/office/drawing/2014/main" id="{957990A1-2DA0-B6CB-0ABF-352E9D7D12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-2400"/>
                <a:ext cx="2257" cy="2261"/>
                <a:chOff x="1749552" y="1804416"/>
                <a:chExt cx="1865376" cy="1871472"/>
              </a:xfrm>
            </p:grpSpPr>
            <p:pic>
              <p:nvPicPr>
                <p:cNvPr id="45" name="椭圆 34">
                  <a:extLst>
                    <a:ext uri="{FF2B5EF4-FFF2-40B4-BE49-F238E27FC236}">
                      <a16:creationId xmlns:a16="http://schemas.microsoft.com/office/drawing/2014/main" id="{A401C4C3-FB70-F55A-85BF-9A337F9B1F0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3">
                  <a:lum bright="12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49552" y="1804416"/>
                  <a:ext cx="1865376" cy="187147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6" name="Text Box 82">
                  <a:extLst>
                    <a:ext uri="{FF2B5EF4-FFF2-40B4-BE49-F238E27FC236}">
                      <a16:creationId xmlns:a16="http://schemas.microsoft.com/office/drawing/2014/main" id="{F019C25D-288A-72B4-4FF9-A01F62F8C3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26194" y="2081756"/>
                  <a:ext cx="1313363" cy="1313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>
                    <a:buFontTx/>
                    <a:buNone/>
                  </a:pPr>
                  <a:endParaRPr lang="en-US" altLang="zh-CN" sz="7498">
                    <a:solidFill>
                      <a:srgbClr val="FFFFFF"/>
                    </a:solidFill>
                    <a:latin typeface="方正兰亭大黑_GBK" pitchFamily="2" charset="-122"/>
                    <a:ea typeface="方正兰亭大黑_GBK" pitchFamily="2" charset="-122"/>
                  </a:endParaRPr>
                </a:p>
              </p:txBody>
            </p:sp>
          </p:grpSp>
          <p:pic>
            <p:nvPicPr>
              <p:cNvPr id="44" name="椭圆 35">
                <a:extLst>
                  <a:ext uri="{FF2B5EF4-FFF2-40B4-BE49-F238E27FC236}">
                    <a16:creationId xmlns:a16="http://schemas.microsoft.com/office/drawing/2014/main" id="{F230B72B-02CC-7096-09CC-D2CFEFEC97AC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>
                <a:lum bright="1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9" y="-2424"/>
                <a:ext cx="2389" cy="23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7" name="圆角矩形 53">
              <a:extLst>
                <a:ext uri="{FF2B5EF4-FFF2-40B4-BE49-F238E27FC236}">
                  <a16:creationId xmlns:a16="http://schemas.microsoft.com/office/drawing/2014/main" id="{93C71FE6-71C3-057F-5879-8CB9D26DD9D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22093">
              <a:off x="1748792" y="2222383"/>
              <a:ext cx="1349856" cy="136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Oval 53">
              <a:extLst>
                <a:ext uri="{FF2B5EF4-FFF2-40B4-BE49-F238E27FC236}">
                  <a16:creationId xmlns:a16="http://schemas.microsoft.com/office/drawing/2014/main" id="{763FE686-6A63-97A0-B1A5-70FF6ADF6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49" y="1082424"/>
              <a:ext cx="947329" cy="947527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D9DEDF"/>
                </a:gs>
              </a:gsLst>
              <a:lin ang="2700000" scaled="0"/>
              <a:tileRect/>
            </a:gradFill>
            <a:ln w="28575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49" name="Text Box 73">
              <a:extLst>
                <a:ext uri="{FF2B5EF4-FFF2-40B4-BE49-F238E27FC236}">
                  <a16:creationId xmlns:a16="http://schemas.microsoft.com/office/drawing/2014/main" id="{84F420A3-9675-FCC9-1532-107E7ABA1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384" y="1275906"/>
              <a:ext cx="67450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2F5597"/>
                  </a:solidFill>
                  <a:ea typeface="方正兰亭大黑_GBK" pitchFamily="2" charset="-122"/>
                </a:rPr>
                <a:t>本职工作</a:t>
              </a:r>
            </a:p>
          </p:txBody>
        </p:sp>
        <p:sp>
          <p:nvSpPr>
            <p:cNvPr id="50" name="Text Box 77">
              <a:extLst>
                <a:ext uri="{FF2B5EF4-FFF2-40B4-BE49-F238E27FC236}">
                  <a16:creationId xmlns:a16="http://schemas.microsoft.com/office/drawing/2014/main" id="{F37B8DF3-5D14-AD79-5BCF-70453D6DD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9569" y="2532016"/>
              <a:ext cx="1028652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方正兰亭大黑_GBK" pitchFamily="2" charset="-122"/>
                </a:rPr>
                <a:t>创造价值</a:t>
              </a:r>
            </a:p>
          </p:txBody>
        </p:sp>
        <p:sp>
          <p:nvSpPr>
            <p:cNvPr id="51" name="Oval 53">
              <a:extLst>
                <a:ext uri="{FF2B5EF4-FFF2-40B4-BE49-F238E27FC236}">
                  <a16:creationId xmlns:a16="http://schemas.microsoft.com/office/drawing/2014/main" id="{76B82364-2ED0-BBD8-8066-597394FF8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1" y="1901873"/>
              <a:ext cx="947329" cy="947527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D9DEDF"/>
                </a:gs>
              </a:gsLst>
              <a:lin ang="2700000" scaled="0"/>
              <a:tileRect/>
            </a:gradFill>
            <a:ln w="28575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52" name="Text Box 73">
              <a:extLst>
                <a:ext uri="{FF2B5EF4-FFF2-40B4-BE49-F238E27FC236}">
                  <a16:creationId xmlns:a16="http://schemas.microsoft.com/office/drawing/2014/main" id="{DC2BAA0B-7A31-AFF0-4993-C57FF3491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646" y="2095355"/>
              <a:ext cx="67450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2F5597"/>
                  </a:solidFill>
                  <a:ea typeface="方正兰亭大黑_GBK" pitchFamily="2" charset="-122"/>
                </a:rPr>
                <a:t>赋能团队</a:t>
              </a:r>
            </a:p>
          </p:txBody>
        </p:sp>
        <p:sp>
          <p:nvSpPr>
            <p:cNvPr id="53" name="Oval 53">
              <a:extLst>
                <a:ext uri="{FF2B5EF4-FFF2-40B4-BE49-F238E27FC236}">
                  <a16:creationId xmlns:a16="http://schemas.microsoft.com/office/drawing/2014/main" id="{B80CAB06-39C1-37A4-A30C-9929A5BA5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729" y="1901873"/>
              <a:ext cx="947329" cy="947527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D9DEDF"/>
                </a:gs>
              </a:gsLst>
              <a:lin ang="2700000" scaled="0"/>
              <a:tileRect/>
            </a:gradFill>
            <a:ln w="28575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54" name="Text Box 73">
              <a:extLst>
                <a:ext uri="{FF2B5EF4-FFF2-40B4-BE49-F238E27FC236}">
                  <a16:creationId xmlns:a16="http://schemas.microsoft.com/office/drawing/2014/main" id="{BF29BC06-2B5B-C484-ED71-2DDAEE1F8A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1064" y="2095355"/>
              <a:ext cx="67450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2F5597"/>
                  </a:solidFill>
                  <a:ea typeface="方正兰亭大黑_GBK" pitchFamily="2" charset="-122"/>
                </a:rPr>
                <a:t>问题解决</a:t>
              </a:r>
            </a:p>
          </p:txBody>
        </p:sp>
        <p:sp>
          <p:nvSpPr>
            <p:cNvPr id="55" name="Oval 53">
              <a:extLst>
                <a:ext uri="{FF2B5EF4-FFF2-40B4-BE49-F238E27FC236}">
                  <a16:creationId xmlns:a16="http://schemas.microsoft.com/office/drawing/2014/main" id="{B41BB89E-3ADA-21D0-615E-F17A506B2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7888" y="3294703"/>
              <a:ext cx="947329" cy="947527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D9DEDF"/>
                </a:gs>
              </a:gsLst>
              <a:lin ang="2700000" scaled="0"/>
              <a:tileRect/>
            </a:gradFill>
            <a:ln w="28575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56" name="Text Box 73">
              <a:extLst>
                <a:ext uri="{FF2B5EF4-FFF2-40B4-BE49-F238E27FC236}">
                  <a16:creationId xmlns:a16="http://schemas.microsoft.com/office/drawing/2014/main" id="{C45638DA-785A-A1D0-BA7E-B5F5969D2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968" y="3488185"/>
              <a:ext cx="67450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2F5597"/>
                  </a:solidFill>
                  <a:ea typeface="方正兰亭大黑_GBK" pitchFamily="2" charset="-122"/>
                </a:rPr>
                <a:t>反思提高</a:t>
              </a:r>
            </a:p>
          </p:txBody>
        </p:sp>
        <p:sp>
          <p:nvSpPr>
            <p:cNvPr id="57" name="Oval 53">
              <a:extLst>
                <a:ext uri="{FF2B5EF4-FFF2-40B4-BE49-F238E27FC236}">
                  <a16:creationId xmlns:a16="http://schemas.microsoft.com/office/drawing/2014/main" id="{0BE3F427-E905-2E60-034A-EEE6794CE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140" y="3294703"/>
              <a:ext cx="947329" cy="947527"/>
            </a:xfrm>
            <a:prstGeom prst="ellipse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D9DEDF"/>
                </a:gs>
              </a:gsLst>
              <a:lin ang="2700000" scaled="0"/>
              <a:tileRect/>
            </a:gradFill>
            <a:ln w="28575">
              <a:gradFill flip="none" rotWithShape="1">
                <a:gsLst>
                  <a:gs pos="0">
                    <a:srgbClr val="FFFFFF"/>
                  </a:gs>
                  <a:gs pos="100000">
                    <a:srgbClr val="D9D9DA"/>
                  </a:gs>
                </a:gsLst>
                <a:lin ang="2700000" scaled="0"/>
                <a:tileRect/>
              </a:gradFill>
            </a:ln>
            <a:effectLst>
              <a:outerShdw blurRad="1905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/>
            </a:p>
          </p:txBody>
        </p:sp>
        <p:sp>
          <p:nvSpPr>
            <p:cNvPr id="58" name="Text Box 73">
              <a:extLst>
                <a:ext uri="{FF2B5EF4-FFF2-40B4-BE49-F238E27FC236}">
                  <a16:creationId xmlns:a16="http://schemas.microsoft.com/office/drawing/2014/main" id="{972B4AA9-F8FF-EE48-FB35-85FBD513F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109" y="3494558"/>
              <a:ext cx="674506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zh-CN" altLang="en-US" sz="1500" dirty="0">
                  <a:solidFill>
                    <a:srgbClr val="2F5597"/>
                  </a:solidFill>
                  <a:ea typeface="方正兰亭大黑_GBK" pitchFamily="2" charset="-122"/>
                </a:rPr>
                <a:t>持续学习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7630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3"/>
          <p:cNvSpPr>
            <a:spLocks noChangeArrowheads="1"/>
          </p:cNvSpPr>
          <p:nvPr/>
        </p:nvSpPr>
        <p:spPr bwMode="auto">
          <a:xfrm>
            <a:off x="899592" y="195486"/>
            <a:ext cx="1266999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工作计划</a:t>
            </a:r>
          </a:p>
        </p:txBody>
      </p:sp>
      <p:sp>
        <p:nvSpPr>
          <p:cNvPr id="2" name="Line 40">
            <a:extLst>
              <a:ext uri="{FF2B5EF4-FFF2-40B4-BE49-F238E27FC236}">
                <a16:creationId xmlns:a16="http://schemas.microsoft.com/office/drawing/2014/main" id="{102528DE-4F12-1DA6-BDD4-4448D66961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5299" y="1533909"/>
            <a:ext cx="1028001" cy="1"/>
          </a:xfrm>
          <a:prstGeom prst="line">
            <a:avLst/>
          </a:prstGeom>
          <a:noFill/>
          <a:ln w="57150" cap="rnd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17" tIns="45708" rIns="91417" bIns="45708" anchor="ctr"/>
          <a:lstStyle/>
          <a:p>
            <a:endParaRPr lang="zh-CN" altLang="en-US" sz="1350"/>
          </a:p>
        </p:txBody>
      </p:sp>
      <p:sp>
        <p:nvSpPr>
          <p:cNvPr id="4" name="Line 40">
            <a:extLst>
              <a:ext uri="{FF2B5EF4-FFF2-40B4-BE49-F238E27FC236}">
                <a16:creationId xmlns:a16="http://schemas.microsoft.com/office/drawing/2014/main" id="{D771A515-D5F6-315F-E0AB-7937E9302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5299" y="4014985"/>
            <a:ext cx="1028001" cy="1"/>
          </a:xfrm>
          <a:prstGeom prst="line">
            <a:avLst/>
          </a:prstGeom>
          <a:noFill/>
          <a:ln w="57150" cap="rnd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17" tIns="45708" rIns="91417" bIns="45708" anchor="ctr"/>
          <a:lstStyle/>
          <a:p>
            <a:endParaRPr lang="zh-CN" altLang="en-US" sz="135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5DE26A4-5F43-1F11-BF05-D0D8A1A020A4}"/>
              </a:ext>
            </a:extLst>
          </p:cNvPr>
          <p:cNvSpPr>
            <a:spLocks/>
          </p:cNvSpPr>
          <p:nvPr/>
        </p:nvSpPr>
        <p:spPr bwMode="auto">
          <a:xfrm>
            <a:off x="753404" y="1206131"/>
            <a:ext cx="1005205" cy="3174831"/>
          </a:xfrm>
          <a:custGeom>
            <a:avLst/>
            <a:gdLst>
              <a:gd name="T0" fmla="*/ 1750 w 1750"/>
              <a:gd name="T1" fmla="*/ 272 h 5527"/>
              <a:gd name="T2" fmla="*/ 314 w 1750"/>
              <a:gd name="T3" fmla="*/ 2778 h 5527"/>
              <a:gd name="T4" fmla="*/ 1699 w 1750"/>
              <a:gd name="T5" fmla="*/ 5254 h 5527"/>
              <a:gd name="T6" fmla="*/ 1542 w 1750"/>
              <a:gd name="T7" fmla="*/ 5527 h 5527"/>
              <a:gd name="T8" fmla="*/ 0 w 1750"/>
              <a:gd name="T9" fmla="*/ 2778 h 5527"/>
              <a:gd name="T10" fmla="*/ 1593 w 1750"/>
              <a:gd name="T11" fmla="*/ 0 h 5527"/>
              <a:gd name="T12" fmla="*/ 1750 w 1750"/>
              <a:gd name="T13" fmla="*/ 272 h 5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50" h="5527">
                <a:moveTo>
                  <a:pt x="1750" y="272"/>
                </a:moveTo>
                <a:cubicBezTo>
                  <a:pt x="891" y="777"/>
                  <a:pt x="314" y="1710"/>
                  <a:pt x="314" y="2778"/>
                </a:cubicBezTo>
                <a:cubicBezTo>
                  <a:pt x="314" y="3825"/>
                  <a:pt x="868" y="4743"/>
                  <a:pt x="1699" y="5254"/>
                </a:cubicBezTo>
                <a:lnTo>
                  <a:pt x="1542" y="5527"/>
                </a:lnTo>
                <a:cubicBezTo>
                  <a:pt x="617" y="4961"/>
                  <a:pt x="0" y="3942"/>
                  <a:pt x="0" y="2778"/>
                </a:cubicBezTo>
                <a:cubicBezTo>
                  <a:pt x="0" y="1594"/>
                  <a:pt x="640" y="559"/>
                  <a:pt x="1593" y="0"/>
                </a:cubicBezTo>
                <a:lnTo>
                  <a:pt x="1750" y="2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483F275D-C6B2-74CF-92AD-6936BD491932}"/>
              </a:ext>
            </a:extLst>
          </p:cNvPr>
          <p:cNvSpPr/>
          <p:nvPr/>
        </p:nvSpPr>
        <p:spPr>
          <a:xfrm>
            <a:off x="652249" y="3688104"/>
            <a:ext cx="2449367" cy="727500"/>
          </a:xfrm>
          <a:prstGeom prst="hexagon">
            <a:avLst/>
          </a:prstGeom>
          <a:gradFill flip="none" rotWithShape="1">
            <a:gsLst>
              <a:gs pos="0">
                <a:schemeClr val="bg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gradFill>
              <a:gsLst>
                <a:gs pos="0">
                  <a:schemeClr val="bg1">
                    <a:lumMod val="71000"/>
                    <a:lumOff val="29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六边形 6">
            <a:extLst>
              <a:ext uri="{FF2B5EF4-FFF2-40B4-BE49-F238E27FC236}">
                <a16:creationId xmlns:a16="http://schemas.microsoft.com/office/drawing/2014/main" id="{927E7DF0-D096-D287-93DF-174FA5C7E0EE}"/>
              </a:ext>
            </a:extLst>
          </p:cNvPr>
          <p:cNvSpPr/>
          <p:nvPr/>
        </p:nvSpPr>
        <p:spPr>
          <a:xfrm>
            <a:off x="724883" y="1041430"/>
            <a:ext cx="2449367" cy="727500"/>
          </a:xfrm>
          <a:prstGeom prst="hexagon">
            <a:avLst/>
          </a:prstGeom>
          <a:gradFill flip="none" rotWithShape="1">
            <a:gsLst>
              <a:gs pos="0">
                <a:schemeClr val="bg1">
                  <a:lumMod val="85000"/>
                  <a:lumOff val="15000"/>
                </a:schemeClr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>
            <a:gradFill>
              <a:gsLst>
                <a:gs pos="0">
                  <a:schemeClr val="bg1">
                    <a:lumMod val="71000"/>
                    <a:lumOff val="29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2F5597"/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endParaRPr lang="zh-CN" altLang="en-US" sz="2400" b="1" dirty="0">
              <a:solidFill>
                <a:srgbClr val="2F559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0F7000C-BA06-5A37-EE68-E967915F48B4}"/>
              </a:ext>
            </a:extLst>
          </p:cNvPr>
          <p:cNvGrpSpPr/>
          <p:nvPr/>
        </p:nvGrpSpPr>
        <p:grpSpPr>
          <a:xfrm>
            <a:off x="1253249" y="1971642"/>
            <a:ext cx="1462786" cy="1463314"/>
            <a:chOff x="1403648" y="1115468"/>
            <a:chExt cx="1294414" cy="1294414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F4A3854-9FB0-263B-AC08-549FF15B3731}"/>
                </a:ext>
              </a:extLst>
            </p:cNvPr>
            <p:cNvSpPr/>
            <p:nvPr/>
          </p:nvSpPr>
          <p:spPr>
            <a:xfrm>
              <a:off x="1539485" y="1259632"/>
              <a:ext cx="1022740" cy="1022740"/>
            </a:xfrm>
            <a:prstGeom prst="ellipse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24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D7021CD-1A65-8B46-D4F3-D1DCC2D59865}"/>
                </a:ext>
              </a:extLst>
            </p:cNvPr>
            <p:cNvGrpSpPr/>
            <p:nvPr/>
          </p:nvGrpSpPr>
          <p:grpSpPr>
            <a:xfrm>
              <a:off x="1403648" y="1115468"/>
              <a:ext cx="1294414" cy="1294414"/>
              <a:chOff x="2555776" y="915566"/>
              <a:chExt cx="1944216" cy="1944216"/>
            </a:xfrm>
            <a:effectLst>
              <a:outerShdw blurRad="63500" dist="50800" dir="8100000" algn="tr" rotWithShape="0">
                <a:prstClr val="black">
                  <a:alpha val="35000"/>
                </a:prstClr>
              </a:outerShdw>
            </a:effectLst>
          </p:grpSpPr>
          <p:sp>
            <p:nvSpPr>
              <p:cNvPr id="12" name="同心圆 125">
                <a:extLst>
                  <a:ext uri="{FF2B5EF4-FFF2-40B4-BE49-F238E27FC236}">
                    <a16:creationId xmlns:a16="http://schemas.microsoft.com/office/drawing/2014/main" id="{0A3D11A4-CB89-866B-74B4-51F749A0A5D8}"/>
                  </a:ext>
                </a:extLst>
              </p:cNvPr>
              <p:cNvSpPr/>
              <p:nvPr/>
            </p:nvSpPr>
            <p:spPr>
              <a:xfrm>
                <a:off x="2555776" y="915566"/>
                <a:ext cx="1944216" cy="1944216"/>
              </a:xfrm>
              <a:prstGeom prst="donut">
                <a:avLst>
                  <a:gd name="adj" fmla="val 10097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81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24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同心圆 126">
                <a:extLst>
                  <a:ext uri="{FF2B5EF4-FFF2-40B4-BE49-F238E27FC236}">
                    <a16:creationId xmlns:a16="http://schemas.microsoft.com/office/drawing/2014/main" id="{B366EAA0-D082-EE6C-A195-9232DC45FB3B}"/>
                  </a:ext>
                </a:extLst>
              </p:cNvPr>
              <p:cNvSpPr/>
              <p:nvPr/>
            </p:nvSpPr>
            <p:spPr>
              <a:xfrm>
                <a:off x="2733335" y="1093125"/>
                <a:ext cx="1589098" cy="1589098"/>
              </a:xfrm>
              <a:prstGeom prst="donut">
                <a:avLst>
                  <a:gd name="adj" fmla="val 12059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6200000" scaled="1"/>
                <a:tileRect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24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Box 124">
              <a:extLst>
                <a:ext uri="{FF2B5EF4-FFF2-40B4-BE49-F238E27FC236}">
                  <a16:creationId xmlns:a16="http://schemas.microsoft.com/office/drawing/2014/main" id="{E37FB1B0-FFFE-A261-866F-B505300F3EA9}"/>
                </a:ext>
              </a:extLst>
            </p:cNvPr>
            <p:cNvSpPr txBox="1"/>
            <p:nvPr/>
          </p:nvSpPr>
          <p:spPr>
            <a:xfrm>
              <a:off x="1685303" y="1575629"/>
              <a:ext cx="725958" cy="353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a:defRPr>
              </a:lvl1pPr>
            </a:lstStyle>
            <a:p>
              <a:r>
                <a:rPr lang="zh-CN" altLang="en-US" sz="20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协同</a:t>
              </a:r>
            </a:p>
          </p:txBody>
        </p:sp>
      </p:grpSp>
      <p:sp>
        <p:nvSpPr>
          <p:cNvPr id="15" name="TextBox 48">
            <a:extLst>
              <a:ext uri="{FF2B5EF4-FFF2-40B4-BE49-F238E27FC236}">
                <a16:creationId xmlns:a16="http://schemas.microsoft.com/office/drawing/2014/main" id="{25F1C333-EF3C-E1BB-E096-CEC0F1DC1973}"/>
              </a:ext>
            </a:extLst>
          </p:cNvPr>
          <p:cNvSpPr txBox="1"/>
          <p:nvPr/>
        </p:nvSpPr>
        <p:spPr>
          <a:xfrm>
            <a:off x="1062329" y="3830383"/>
            <a:ext cx="1749661" cy="369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399" b="1" dirty="0">
                <a:solidFill>
                  <a:srgbClr val="2F5597"/>
                </a:solidFill>
                <a:latin typeface="微软雅黑" pitchFamily="34" charset="-122"/>
                <a:ea typeface="微软雅黑" pitchFamily="34" charset="-122"/>
              </a:rPr>
              <a:t>我</a:t>
            </a:r>
          </a:p>
        </p:txBody>
      </p:sp>
      <p:sp>
        <p:nvSpPr>
          <p:cNvPr id="16" name="TextBox 115">
            <a:extLst>
              <a:ext uri="{FF2B5EF4-FFF2-40B4-BE49-F238E27FC236}">
                <a16:creationId xmlns:a16="http://schemas.microsoft.com/office/drawing/2014/main" id="{0EB10802-780A-34D3-EE83-DC3CA202EBD9}"/>
              </a:ext>
            </a:extLst>
          </p:cNvPr>
          <p:cNvSpPr txBox="1"/>
          <p:nvPr/>
        </p:nvSpPr>
        <p:spPr>
          <a:xfrm>
            <a:off x="4490193" y="2403564"/>
            <a:ext cx="3602411" cy="1511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. 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持续学习跟进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知识，探索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落地应用和方案</a:t>
            </a:r>
            <a:endParaRPr lang="en-US" altLang="zh-CN" sz="105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持续优化系统和自身工作方法。</a:t>
            </a:r>
          </a:p>
          <a:p>
            <a:pPr>
              <a:lnSpc>
                <a:spcPts val="2000"/>
              </a:lnSpc>
            </a:pP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减少运维时长，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比如优化用户交互不友好的地方（提示语等），维护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FAQ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知识库。</a:t>
            </a:r>
            <a:endParaRPr lang="en-US" altLang="zh-CN" sz="105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1050" dirty="0">
                <a:solidFill>
                  <a:srgbClr val="ED0000"/>
                </a:solidFill>
                <a:latin typeface="微软雅黑" pitchFamily="34" charset="-122"/>
                <a:ea typeface="微软雅黑" pitchFamily="34" charset="-122"/>
              </a:rPr>
              <a:t>积极学习辛顿模式下的工作方式，学习将</a:t>
            </a:r>
            <a:r>
              <a:rPr lang="en-US" altLang="zh-CN" sz="1050" dirty="0">
                <a:solidFill>
                  <a:srgbClr val="ED0000"/>
                </a:solidFill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CN" altLang="en-US" sz="1050" dirty="0">
                <a:solidFill>
                  <a:srgbClr val="ED0000"/>
                </a:solidFill>
                <a:latin typeface="微软雅黑" pitchFamily="34" charset="-122"/>
                <a:ea typeface="微软雅黑" pitchFamily="34" charset="-122"/>
              </a:rPr>
              <a:t>作为伙伴协同工作。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	</a:t>
            </a:r>
          </a:p>
        </p:txBody>
      </p:sp>
      <p:grpSp>
        <p:nvGrpSpPr>
          <p:cNvPr id="27" name="矩形 33">
            <a:extLst>
              <a:ext uri="{FF2B5EF4-FFF2-40B4-BE49-F238E27FC236}">
                <a16:creationId xmlns:a16="http://schemas.microsoft.com/office/drawing/2014/main" id="{5B472E78-0AC3-22E1-9306-7F2B66A8FBCC}"/>
              </a:ext>
            </a:extLst>
          </p:cNvPr>
          <p:cNvGrpSpPr>
            <a:grpSpLocks/>
          </p:cNvGrpSpPr>
          <p:nvPr/>
        </p:nvGrpSpPr>
        <p:grpSpPr bwMode="auto">
          <a:xfrm>
            <a:off x="4490193" y="1971642"/>
            <a:ext cx="3636691" cy="230055"/>
            <a:chOff x="634" y="937"/>
            <a:chExt cx="6470" cy="234"/>
          </a:xfrm>
        </p:grpSpPr>
        <p:pic>
          <p:nvPicPr>
            <p:cNvPr id="28" name="矩形 33">
              <a:extLst>
                <a:ext uri="{FF2B5EF4-FFF2-40B4-BE49-F238E27FC236}">
                  <a16:creationId xmlns:a16="http://schemas.microsoft.com/office/drawing/2014/main" id="{FC8116FA-D6CA-F673-6640-CC178CAA51A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" y="937"/>
              <a:ext cx="6470" cy="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 Box 55">
              <a:extLst>
                <a:ext uri="{FF2B5EF4-FFF2-40B4-BE49-F238E27FC236}">
                  <a16:creationId xmlns:a16="http://schemas.microsoft.com/office/drawing/2014/main" id="{7E816CD7-76C8-22D1-AE69-70AF089B8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769" y="-2163"/>
              <a:ext cx="102" cy="6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600" b="1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F8F3078-E7F8-DC6C-FEF8-008E4C504224}"/>
              </a:ext>
            </a:extLst>
          </p:cNvPr>
          <p:cNvGrpSpPr/>
          <p:nvPr/>
        </p:nvGrpSpPr>
        <p:grpSpPr>
          <a:xfrm>
            <a:off x="4860032" y="1041430"/>
            <a:ext cx="1667858" cy="517454"/>
            <a:chOff x="5091189" y="826506"/>
            <a:chExt cx="1667858" cy="517454"/>
          </a:xfrm>
        </p:grpSpPr>
        <p:pic>
          <p:nvPicPr>
            <p:cNvPr id="31" name="圆角矩形 53">
              <a:extLst>
                <a:ext uri="{FF2B5EF4-FFF2-40B4-BE49-F238E27FC236}">
                  <a16:creationId xmlns:a16="http://schemas.microsoft.com/office/drawing/2014/main" id="{18F800AB-B25A-47BE-4CAF-2D2BA51270C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1189" y="826506"/>
              <a:ext cx="1667858" cy="51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 Box 77">
              <a:extLst>
                <a:ext uri="{FF2B5EF4-FFF2-40B4-BE49-F238E27FC236}">
                  <a16:creationId xmlns:a16="http://schemas.microsoft.com/office/drawing/2014/main" id="{3C1D3274-4B3D-F6F1-4486-EC20C2A03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3078" y="890037"/>
              <a:ext cx="135771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dirty="0">
                  <a:solidFill>
                    <a:srgbClr val="00327D"/>
                  </a:solidFill>
                  <a:ea typeface="方正兰亭大黑_GBK" pitchFamily="2" charset="-122"/>
                </a:rPr>
                <a:t>辛顿模式下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BE59D3A-0830-5DF9-C1E7-79C28AED0EE5}"/>
              </a:ext>
            </a:extLst>
          </p:cNvPr>
          <p:cNvGrpSpPr/>
          <p:nvPr/>
        </p:nvGrpSpPr>
        <p:grpSpPr>
          <a:xfrm>
            <a:off x="4420193" y="1056115"/>
            <a:ext cx="476131" cy="476303"/>
            <a:chOff x="4360876" y="3993186"/>
            <a:chExt cx="1684779" cy="1685388"/>
          </a:xfrm>
        </p:grpSpPr>
        <p:sp>
          <p:nvSpPr>
            <p:cNvPr id="34" name="泪滴形 33">
              <a:extLst>
                <a:ext uri="{FF2B5EF4-FFF2-40B4-BE49-F238E27FC236}">
                  <a16:creationId xmlns:a16="http://schemas.microsoft.com/office/drawing/2014/main" id="{EC1B8337-85AF-E6FA-5084-0276B9F68924}"/>
                </a:ext>
              </a:extLst>
            </p:cNvPr>
            <p:cNvSpPr/>
            <p:nvPr/>
          </p:nvSpPr>
          <p:spPr>
            <a:xfrm>
              <a:off x="4360876" y="3993186"/>
              <a:ext cx="1684779" cy="1685388"/>
            </a:xfrm>
            <a:prstGeom prst="teardrop">
              <a:avLst/>
            </a:prstGeom>
            <a:solidFill>
              <a:srgbClr val="2F5597"/>
            </a:solidFill>
            <a:ln w="31750">
              <a:solidFill>
                <a:srgbClr val="F9F9F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B46AF1FD-CADA-E754-BE74-7ADB9426F7EF}"/>
                </a:ext>
              </a:extLst>
            </p:cNvPr>
            <p:cNvGrpSpPr/>
            <p:nvPr/>
          </p:nvGrpSpPr>
          <p:grpSpPr>
            <a:xfrm>
              <a:off x="4524458" y="4086677"/>
              <a:ext cx="1414523" cy="1415036"/>
              <a:chOff x="3394374" y="2689764"/>
              <a:chExt cx="1061215" cy="1061359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98717295-C637-EB40-BE20-B7351E3C6439}"/>
                  </a:ext>
                </a:extLst>
              </p:cNvPr>
              <p:cNvGrpSpPr/>
              <p:nvPr/>
            </p:nvGrpSpPr>
            <p:grpSpPr>
              <a:xfrm>
                <a:off x="3394374" y="2689764"/>
                <a:ext cx="1061215" cy="1061359"/>
                <a:chOff x="4926840" y="1732375"/>
                <a:chExt cx="1656097" cy="1656098"/>
              </a:xfrm>
            </p:grpSpPr>
            <p:sp>
              <p:nvSpPr>
                <p:cNvPr id="41" name="任意多边形 201">
                  <a:extLst>
                    <a:ext uri="{FF2B5EF4-FFF2-40B4-BE49-F238E27FC236}">
                      <a16:creationId xmlns:a16="http://schemas.microsoft.com/office/drawing/2014/main" id="{782F83F5-834B-3C25-DDC5-9398A92ABAEE}"/>
                    </a:ext>
                  </a:extLst>
                </p:cNvPr>
                <p:cNvSpPr/>
                <p:nvPr/>
              </p:nvSpPr>
              <p:spPr>
                <a:xfrm>
                  <a:off x="4926840" y="1732375"/>
                  <a:ext cx="1656097" cy="1656098"/>
                </a:xfrm>
                <a:custGeom>
                  <a:avLst/>
                  <a:gdLst>
                    <a:gd name="connsiteX0" fmla="*/ 734066 w 1656097"/>
                    <a:gd name="connsiteY0" fmla="*/ 0 h 1656098"/>
                    <a:gd name="connsiteX1" fmla="*/ 922032 w 1656097"/>
                    <a:gd name="connsiteY1" fmla="*/ 0 h 1656098"/>
                    <a:gd name="connsiteX2" fmla="*/ 958682 w 1656097"/>
                    <a:gd name="connsiteY2" fmla="*/ 170987 h 1656098"/>
                    <a:gd name="connsiteX3" fmla="*/ 967537 w 1656097"/>
                    <a:gd name="connsiteY3" fmla="*/ 172338 h 1656098"/>
                    <a:gd name="connsiteX4" fmla="*/ 1042604 w 1656097"/>
                    <a:gd name="connsiteY4" fmla="*/ 194634 h 1656098"/>
                    <a:gd name="connsiteX5" fmla="*/ 1160682 w 1656097"/>
                    <a:gd name="connsiteY5" fmla="*/ 63947 h 1656098"/>
                    <a:gd name="connsiteX6" fmla="*/ 1323465 w 1656097"/>
                    <a:gd name="connsiteY6" fmla="*/ 157929 h 1656098"/>
                    <a:gd name="connsiteX7" fmla="*/ 1271151 w 1656097"/>
                    <a:gd name="connsiteY7" fmla="*/ 319877 h 1656098"/>
                    <a:gd name="connsiteX8" fmla="*/ 1280994 w 1656097"/>
                    <a:gd name="connsiteY8" fmla="*/ 327054 h 1656098"/>
                    <a:gd name="connsiteX9" fmla="*/ 1333335 w 1656097"/>
                    <a:gd name="connsiteY9" fmla="*/ 377405 h 1656098"/>
                    <a:gd name="connsiteX10" fmla="*/ 1338950 w 1656097"/>
                    <a:gd name="connsiteY10" fmla="*/ 384065 h 1656098"/>
                    <a:gd name="connsiteX11" fmla="*/ 1498169 w 1656097"/>
                    <a:gd name="connsiteY11" fmla="*/ 332634 h 1656098"/>
                    <a:gd name="connsiteX12" fmla="*/ 1592152 w 1656097"/>
                    <a:gd name="connsiteY12" fmla="*/ 495417 h 1656098"/>
                    <a:gd name="connsiteX13" fmla="*/ 1473528 w 1656097"/>
                    <a:gd name="connsiteY13" fmla="*/ 602595 h 1656098"/>
                    <a:gd name="connsiteX14" fmla="*/ 1483127 w 1656097"/>
                    <a:gd name="connsiteY14" fmla="*/ 626411 h 1656098"/>
                    <a:gd name="connsiteX15" fmla="*/ 1501984 w 1656097"/>
                    <a:gd name="connsiteY15" fmla="*/ 701032 h 1656098"/>
                    <a:gd name="connsiteX16" fmla="*/ 1656097 w 1656097"/>
                    <a:gd name="connsiteY16" fmla="*/ 734067 h 1656098"/>
                    <a:gd name="connsiteX17" fmla="*/ 1656097 w 1656097"/>
                    <a:gd name="connsiteY17" fmla="*/ 922032 h 1656098"/>
                    <a:gd name="connsiteX18" fmla="*/ 1511749 w 1656097"/>
                    <a:gd name="connsiteY18" fmla="*/ 952973 h 1656098"/>
                    <a:gd name="connsiteX19" fmla="*/ 1506114 w 1656097"/>
                    <a:gd name="connsiteY19" fmla="*/ 989892 h 1656098"/>
                    <a:gd name="connsiteX20" fmla="*/ 1491538 w 1656097"/>
                    <a:gd name="connsiteY20" fmla="*/ 1048074 h 1656098"/>
                    <a:gd name="connsiteX21" fmla="*/ 1485827 w 1656097"/>
                    <a:gd name="connsiteY21" fmla="*/ 1064617 h 1656098"/>
                    <a:gd name="connsiteX22" fmla="*/ 1592152 w 1656097"/>
                    <a:gd name="connsiteY22" fmla="*/ 1160683 h 1656098"/>
                    <a:gd name="connsiteX23" fmla="*/ 1498169 w 1656097"/>
                    <a:gd name="connsiteY23" fmla="*/ 1323465 h 1656098"/>
                    <a:gd name="connsiteX24" fmla="*/ 1367507 w 1656097"/>
                    <a:gd name="connsiteY24" fmla="*/ 1281258 h 1656098"/>
                    <a:gd name="connsiteX25" fmla="*/ 1351398 w 1656097"/>
                    <a:gd name="connsiteY25" fmla="*/ 1303350 h 1656098"/>
                    <a:gd name="connsiteX26" fmla="*/ 1301049 w 1656097"/>
                    <a:gd name="connsiteY26" fmla="*/ 1355691 h 1656098"/>
                    <a:gd name="connsiteX27" fmla="*/ 1282493 w 1656097"/>
                    <a:gd name="connsiteY27" fmla="*/ 1371332 h 1656098"/>
                    <a:gd name="connsiteX28" fmla="*/ 1323465 w 1656097"/>
                    <a:gd name="connsiteY28" fmla="*/ 1498169 h 1656098"/>
                    <a:gd name="connsiteX29" fmla="*/ 1160682 w 1656097"/>
                    <a:gd name="connsiteY29" fmla="*/ 1592152 h 1656098"/>
                    <a:gd name="connsiteX30" fmla="*/ 1074277 w 1656097"/>
                    <a:gd name="connsiteY30" fmla="*/ 1496521 h 1656098"/>
                    <a:gd name="connsiteX31" fmla="*/ 1052042 w 1656097"/>
                    <a:gd name="connsiteY31" fmla="*/ 1505484 h 1656098"/>
                    <a:gd name="connsiteX32" fmla="*/ 948719 w 1656097"/>
                    <a:gd name="connsiteY32" fmla="*/ 1531593 h 1656098"/>
                    <a:gd name="connsiteX33" fmla="*/ 922032 w 1656097"/>
                    <a:gd name="connsiteY33" fmla="*/ 1656098 h 1656098"/>
                    <a:gd name="connsiteX34" fmla="*/ 734066 w 1656097"/>
                    <a:gd name="connsiteY34" fmla="*/ 1656098 h 1656098"/>
                    <a:gd name="connsiteX35" fmla="*/ 707323 w 1656097"/>
                    <a:gd name="connsiteY35" fmla="*/ 1531333 h 1656098"/>
                    <a:gd name="connsiteX36" fmla="*/ 688561 w 1656097"/>
                    <a:gd name="connsiteY36" fmla="*/ 1528470 h 1656098"/>
                    <a:gd name="connsiteX37" fmla="*/ 581645 w 1656097"/>
                    <a:gd name="connsiteY37" fmla="*/ 1496716 h 1656098"/>
                    <a:gd name="connsiteX38" fmla="*/ 495416 w 1656097"/>
                    <a:gd name="connsiteY38" fmla="*/ 1592152 h 1656098"/>
                    <a:gd name="connsiteX39" fmla="*/ 332634 w 1656097"/>
                    <a:gd name="connsiteY39" fmla="*/ 1498169 h 1656098"/>
                    <a:gd name="connsiteX40" fmla="*/ 373389 w 1656097"/>
                    <a:gd name="connsiteY40" fmla="*/ 1372000 h 1656098"/>
                    <a:gd name="connsiteX41" fmla="*/ 293970 w 1656097"/>
                    <a:gd name="connsiteY41" fmla="*/ 1290661 h 1656098"/>
                    <a:gd name="connsiteX42" fmla="*/ 287662 w 1656097"/>
                    <a:gd name="connsiteY42" fmla="*/ 1281558 h 1656098"/>
                    <a:gd name="connsiteX43" fmla="*/ 157930 w 1656097"/>
                    <a:gd name="connsiteY43" fmla="*/ 1323465 h 1656098"/>
                    <a:gd name="connsiteX44" fmla="*/ 63947 w 1656097"/>
                    <a:gd name="connsiteY44" fmla="*/ 1160683 h 1656098"/>
                    <a:gd name="connsiteX45" fmla="*/ 170348 w 1656097"/>
                    <a:gd name="connsiteY45" fmla="*/ 1064548 h 1656098"/>
                    <a:gd name="connsiteX46" fmla="*/ 159896 w 1656097"/>
                    <a:gd name="connsiteY46" fmla="*/ 1031651 h 1656098"/>
                    <a:gd name="connsiteX47" fmla="*/ 144063 w 1656097"/>
                    <a:gd name="connsiteY47" fmla="*/ 952912 h 1656098"/>
                    <a:gd name="connsiteX48" fmla="*/ 0 w 1656097"/>
                    <a:gd name="connsiteY48" fmla="*/ 922032 h 1656098"/>
                    <a:gd name="connsiteX49" fmla="*/ 0 w 1656097"/>
                    <a:gd name="connsiteY49" fmla="*/ 734067 h 1656098"/>
                    <a:gd name="connsiteX50" fmla="*/ 152682 w 1656097"/>
                    <a:gd name="connsiteY50" fmla="*/ 701339 h 1656098"/>
                    <a:gd name="connsiteX51" fmla="*/ 159896 w 1656097"/>
                    <a:gd name="connsiteY51" fmla="*/ 669158 h 1656098"/>
                    <a:gd name="connsiteX52" fmla="*/ 182923 w 1656097"/>
                    <a:gd name="connsiteY52" fmla="*/ 602913 h 1656098"/>
                    <a:gd name="connsiteX53" fmla="*/ 63947 w 1656097"/>
                    <a:gd name="connsiteY53" fmla="*/ 495417 h 1656098"/>
                    <a:gd name="connsiteX54" fmla="*/ 157930 w 1656097"/>
                    <a:gd name="connsiteY54" fmla="*/ 332634 h 1656098"/>
                    <a:gd name="connsiteX55" fmla="*/ 318389 w 1656097"/>
                    <a:gd name="connsiteY55" fmla="*/ 384465 h 1656098"/>
                    <a:gd name="connsiteX56" fmla="*/ 353537 w 1656097"/>
                    <a:gd name="connsiteY56" fmla="*/ 346539 h 1656098"/>
                    <a:gd name="connsiteX57" fmla="*/ 385166 w 1656097"/>
                    <a:gd name="connsiteY57" fmla="*/ 320558 h 1656098"/>
                    <a:gd name="connsiteX58" fmla="*/ 332634 w 1656097"/>
                    <a:gd name="connsiteY58" fmla="*/ 157929 h 1656098"/>
                    <a:gd name="connsiteX59" fmla="*/ 495416 w 1656097"/>
                    <a:gd name="connsiteY59" fmla="*/ 63947 h 1656098"/>
                    <a:gd name="connsiteX60" fmla="*/ 612546 w 1656097"/>
                    <a:gd name="connsiteY60" fmla="*/ 193585 h 1656098"/>
                    <a:gd name="connsiteX61" fmla="*/ 688561 w 1656097"/>
                    <a:gd name="connsiteY61" fmla="*/ 172338 h 1656098"/>
                    <a:gd name="connsiteX62" fmla="*/ 697415 w 1656097"/>
                    <a:gd name="connsiteY62" fmla="*/ 170987 h 165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1656097" h="1656098">
                      <a:moveTo>
                        <a:pt x="734066" y="0"/>
                      </a:moveTo>
                      <a:lnTo>
                        <a:pt x="922032" y="0"/>
                      </a:lnTo>
                      <a:lnTo>
                        <a:pt x="958682" y="170987"/>
                      </a:lnTo>
                      <a:lnTo>
                        <a:pt x="967537" y="172338"/>
                      </a:lnTo>
                      <a:lnTo>
                        <a:pt x="1042604" y="194634"/>
                      </a:lnTo>
                      <a:lnTo>
                        <a:pt x="1160682" y="63947"/>
                      </a:lnTo>
                      <a:lnTo>
                        <a:pt x="1323465" y="157929"/>
                      </a:lnTo>
                      <a:lnTo>
                        <a:pt x="1271151" y="319877"/>
                      </a:lnTo>
                      <a:lnTo>
                        <a:pt x="1280994" y="327054"/>
                      </a:lnTo>
                      <a:cubicBezTo>
                        <a:pt x="1299308" y="342918"/>
                        <a:pt x="1316780" y="359726"/>
                        <a:pt x="1333335" y="377405"/>
                      </a:cubicBezTo>
                      <a:lnTo>
                        <a:pt x="1338950" y="384065"/>
                      </a:lnTo>
                      <a:lnTo>
                        <a:pt x="1498169" y="332634"/>
                      </a:lnTo>
                      <a:lnTo>
                        <a:pt x="1592152" y="495417"/>
                      </a:lnTo>
                      <a:lnTo>
                        <a:pt x="1473528" y="602595"/>
                      </a:lnTo>
                      <a:lnTo>
                        <a:pt x="1483127" y="626411"/>
                      </a:lnTo>
                      <a:lnTo>
                        <a:pt x="1501984" y="701032"/>
                      </a:lnTo>
                      <a:lnTo>
                        <a:pt x="1656097" y="734067"/>
                      </a:lnTo>
                      <a:lnTo>
                        <a:pt x="1656097" y="922032"/>
                      </a:lnTo>
                      <a:lnTo>
                        <a:pt x="1511749" y="952973"/>
                      </a:lnTo>
                      <a:lnTo>
                        <a:pt x="1506114" y="989892"/>
                      </a:lnTo>
                      <a:cubicBezTo>
                        <a:pt x="1502081" y="1009604"/>
                        <a:pt x="1497209" y="1029011"/>
                        <a:pt x="1491538" y="1048074"/>
                      </a:cubicBezTo>
                      <a:lnTo>
                        <a:pt x="1485827" y="1064617"/>
                      </a:lnTo>
                      <a:lnTo>
                        <a:pt x="1592152" y="1160683"/>
                      </a:lnTo>
                      <a:lnTo>
                        <a:pt x="1498169" y="1323465"/>
                      </a:lnTo>
                      <a:lnTo>
                        <a:pt x="1367507" y="1281258"/>
                      </a:lnTo>
                      <a:lnTo>
                        <a:pt x="1351398" y="1303350"/>
                      </a:lnTo>
                      <a:cubicBezTo>
                        <a:pt x="1335535" y="1321664"/>
                        <a:pt x="1318727" y="1339136"/>
                        <a:pt x="1301049" y="1355691"/>
                      </a:cubicBezTo>
                      <a:lnTo>
                        <a:pt x="1282493" y="1371332"/>
                      </a:lnTo>
                      <a:lnTo>
                        <a:pt x="1323465" y="1498169"/>
                      </a:lnTo>
                      <a:lnTo>
                        <a:pt x="1160682" y="1592152"/>
                      </a:lnTo>
                      <a:lnTo>
                        <a:pt x="1074277" y="1496521"/>
                      </a:lnTo>
                      <a:lnTo>
                        <a:pt x="1052042" y="1505484"/>
                      </a:lnTo>
                      <a:lnTo>
                        <a:pt x="948719" y="1531593"/>
                      </a:lnTo>
                      <a:lnTo>
                        <a:pt x="922032" y="1656098"/>
                      </a:lnTo>
                      <a:lnTo>
                        <a:pt x="734066" y="1656098"/>
                      </a:lnTo>
                      <a:lnTo>
                        <a:pt x="707323" y="1531333"/>
                      </a:lnTo>
                      <a:lnTo>
                        <a:pt x="688561" y="1528470"/>
                      </a:lnTo>
                      <a:lnTo>
                        <a:pt x="581645" y="1496716"/>
                      </a:lnTo>
                      <a:lnTo>
                        <a:pt x="495416" y="1592152"/>
                      </a:lnTo>
                      <a:lnTo>
                        <a:pt x="332634" y="1498169"/>
                      </a:lnTo>
                      <a:lnTo>
                        <a:pt x="373389" y="1372000"/>
                      </a:lnTo>
                      <a:lnTo>
                        <a:pt x="293970" y="1290661"/>
                      </a:lnTo>
                      <a:lnTo>
                        <a:pt x="287662" y="1281558"/>
                      </a:lnTo>
                      <a:lnTo>
                        <a:pt x="157930" y="1323465"/>
                      </a:lnTo>
                      <a:lnTo>
                        <a:pt x="63947" y="1160683"/>
                      </a:lnTo>
                      <a:lnTo>
                        <a:pt x="170348" y="1064548"/>
                      </a:lnTo>
                      <a:lnTo>
                        <a:pt x="159896" y="1031651"/>
                      </a:lnTo>
                      <a:lnTo>
                        <a:pt x="144063" y="952912"/>
                      </a:lnTo>
                      <a:lnTo>
                        <a:pt x="0" y="922032"/>
                      </a:lnTo>
                      <a:lnTo>
                        <a:pt x="0" y="734067"/>
                      </a:lnTo>
                      <a:lnTo>
                        <a:pt x="152682" y="701339"/>
                      </a:lnTo>
                      <a:lnTo>
                        <a:pt x="159896" y="669158"/>
                      </a:lnTo>
                      <a:lnTo>
                        <a:pt x="182923" y="602913"/>
                      </a:lnTo>
                      <a:lnTo>
                        <a:pt x="63947" y="495417"/>
                      </a:lnTo>
                      <a:lnTo>
                        <a:pt x="157930" y="332634"/>
                      </a:lnTo>
                      <a:lnTo>
                        <a:pt x="318389" y="384465"/>
                      </a:lnTo>
                      <a:lnTo>
                        <a:pt x="353537" y="346539"/>
                      </a:lnTo>
                      <a:lnTo>
                        <a:pt x="385166" y="320558"/>
                      </a:lnTo>
                      <a:lnTo>
                        <a:pt x="332634" y="157929"/>
                      </a:lnTo>
                      <a:lnTo>
                        <a:pt x="495416" y="63947"/>
                      </a:lnTo>
                      <a:lnTo>
                        <a:pt x="612546" y="193585"/>
                      </a:lnTo>
                      <a:lnTo>
                        <a:pt x="688561" y="172338"/>
                      </a:lnTo>
                      <a:lnTo>
                        <a:pt x="697415" y="17098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rgbClr val="E2E2E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90500" dist="889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3DF83D5C-B51A-733C-FB85-17ECDB2A4B8B}"/>
                    </a:ext>
                  </a:extLst>
                </p:cNvPr>
                <p:cNvSpPr/>
                <p:nvPr/>
              </p:nvSpPr>
              <p:spPr>
                <a:xfrm>
                  <a:off x="5189938" y="1995474"/>
                  <a:ext cx="1129900" cy="1129900"/>
                </a:xfrm>
                <a:prstGeom prst="ellipse">
                  <a:avLst/>
                </a:prstGeom>
                <a:solidFill>
                  <a:srgbClr val="2F5597"/>
                </a:solidFill>
                <a:ln w="22225">
                  <a:gradFill flip="none" rotWithShape="1">
                    <a:gsLst>
                      <a:gs pos="0">
                        <a:srgbClr val="CDCDCD"/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88900" dist="38100" dir="13500000">
                    <a:prstClr val="black">
                      <a:alpha val="4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F0B82DE1-3C20-649A-398C-CC9B3508E10C}"/>
                    </a:ext>
                  </a:extLst>
                </p:cNvPr>
                <p:cNvSpPr/>
                <p:nvPr/>
              </p:nvSpPr>
              <p:spPr>
                <a:xfrm>
                  <a:off x="5266822" y="2076686"/>
                  <a:ext cx="976134" cy="976135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 flip="none" rotWithShape="1">
                    <a:gsLst>
                      <a:gs pos="100000">
                        <a:srgbClr val="CDCDCD"/>
                      </a:gs>
                      <a:gs pos="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889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Group 46">
                <a:extLst>
                  <a:ext uri="{FF2B5EF4-FFF2-40B4-BE49-F238E27FC236}">
                    <a16:creationId xmlns:a16="http://schemas.microsoft.com/office/drawing/2014/main" id="{0F0135D9-B926-FB88-288A-A69602D7035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703465" y="3092811"/>
                <a:ext cx="443033" cy="274322"/>
                <a:chOff x="3098" y="1701"/>
                <a:chExt cx="1486" cy="920"/>
              </a:xfrm>
              <a:solidFill>
                <a:srgbClr val="663A77"/>
              </a:solidFill>
            </p:grpSpPr>
            <p:sp>
              <p:nvSpPr>
                <p:cNvPr id="38" name="Freeform 47">
                  <a:extLst>
                    <a:ext uri="{FF2B5EF4-FFF2-40B4-BE49-F238E27FC236}">
                      <a16:creationId xmlns:a16="http://schemas.microsoft.com/office/drawing/2014/main" id="{103A845F-FC24-969C-7E80-FE262E10E0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1701"/>
                  <a:ext cx="746" cy="920"/>
                </a:xfrm>
                <a:custGeom>
                  <a:avLst/>
                  <a:gdLst>
                    <a:gd name="T0" fmla="*/ 157 w 314"/>
                    <a:gd name="T1" fmla="*/ 0 h 386"/>
                    <a:gd name="T2" fmla="*/ 68 w 314"/>
                    <a:gd name="T3" fmla="*/ 89 h 386"/>
                    <a:gd name="T4" fmla="*/ 127 w 314"/>
                    <a:gd name="T5" fmla="*/ 172 h 386"/>
                    <a:gd name="T6" fmla="*/ 103 w 314"/>
                    <a:gd name="T7" fmla="*/ 172 h 386"/>
                    <a:gd name="T8" fmla="*/ 16 w 314"/>
                    <a:gd name="T9" fmla="*/ 320 h 386"/>
                    <a:gd name="T10" fmla="*/ 28 w 314"/>
                    <a:gd name="T11" fmla="*/ 386 h 386"/>
                    <a:gd name="T12" fmla="*/ 132 w 314"/>
                    <a:gd name="T13" fmla="*/ 386 h 386"/>
                    <a:gd name="T14" fmla="*/ 154 w 314"/>
                    <a:gd name="T15" fmla="*/ 203 h 386"/>
                    <a:gd name="T16" fmla="*/ 132 w 314"/>
                    <a:gd name="T17" fmla="*/ 180 h 386"/>
                    <a:gd name="T18" fmla="*/ 182 w 314"/>
                    <a:gd name="T19" fmla="*/ 180 h 386"/>
                    <a:gd name="T20" fmla="*/ 160 w 314"/>
                    <a:gd name="T21" fmla="*/ 203 h 386"/>
                    <a:gd name="T22" fmla="*/ 182 w 314"/>
                    <a:gd name="T23" fmla="*/ 386 h 386"/>
                    <a:gd name="T24" fmla="*/ 286 w 314"/>
                    <a:gd name="T25" fmla="*/ 386 h 386"/>
                    <a:gd name="T26" fmla="*/ 298 w 314"/>
                    <a:gd name="T27" fmla="*/ 320 h 386"/>
                    <a:gd name="T28" fmla="*/ 211 w 314"/>
                    <a:gd name="T29" fmla="*/ 172 h 386"/>
                    <a:gd name="T30" fmla="*/ 187 w 314"/>
                    <a:gd name="T31" fmla="*/ 172 h 386"/>
                    <a:gd name="T32" fmla="*/ 246 w 314"/>
                    <a:gd name="T33" fmla="*/ 89 h 386"/>
                    <a:gd name="T34" fmla="*/ 157 w 314"/>
                    <a:gd name="T35" fmla="*/ 0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14" h="386">
                      <a:moveTo>
                        <a:pt x="157" y="0"/>
                      </a:moveTo>
                      <a:cubicBezTo>
                        <a:pt x="108" y="0"/>
                        <a:pt x="68" y="40"/>
                        <a:pt x="68" y="89"/>
                      </a:cubicBezTo>
                      <a:cubicBezTo>
                        <a:pt x="68" y="127"/>
                        <a:pt x="93" y="160"/>
                        <a:pt x="127" y="172"/>
                      </a:cubicBezTo>
                      <a:cubicBezTo>
                        <a:pt x="103" y="172"/>
                        <a:pt x="103" y="172"/>
                        <a:pt x="103" y="172"/>
                      </a:cubicBezTo>
                      <a:cubicBezTo>
                        <a:pt x="55" y="172"/>
                        <a:pt x="26" y="291"/>
                        <a:pt x="16" y="320"/>
                      </a:cubicBezTo>
                      <a:cubicBezTo>
                        <a:pt x="0" y="363"/>
                        <a:pt x="28" y="386"/>
                        <a:pt x="28" y="386"/>
                      </a:cubicBezTo>
                      <a:cubicBezTo>
                        <a:pt x="132" y="386"/>
                        <a:pt x="132" y="386"/>
                        <a:pt x="132" y="386"/>
                      </a:cubicBezTo>
                      <a:cubicBezTo>
                        <a:pt x="154" y="203"/>
                        <a:pt x="154" y="203"/>
                        <a:pt x="154" y="203"/>
                      </a:cubicBezTo>
                      <a:cubicBezTo>
                        <a:pt x="132" y="180"/>
                        <a:pt x="132" y="180"/>
                        <a:pt x="132" y="180"/>
                      </a:cubicBezTo>
                      <a:cubicBezTo>
                        <a:pt x="182" y="180"/>
                        <a:pt x="182" y="180"/>
                        <a:pt x="182" y="180"/>
                      </a:cubicBezTo>
                      <a:cubicBezTo>
                        <a:pt x="160" y="203"/>
                        <a:pt x="160" y="203"/>
                        <a:pt x="160" y="203"/>
                      </a:cubicBezTo>
                      <a:cubicBezTo>
                        <a:pt x="182" y="386"/>
                        <a:pt x="182" y="386"/>
                        <a:pt x="182" y="386"/>
                      </a:cubicBezTo>
                      <a:cubicBezTo>
                        <a:pt x="286" y="386"/>
                        <a:pt x="286" y="386"/>
                        <a:pt x="286" y="386"/>
                      </a:cubicBezTo>
                      <a:cubicBezTo>
                        <a:pt x="286" y="386"/>
                        <a:pt x="314" y="363"/>
                        <a:pt x="298" y="320"/>
                      </a:cubicBezTo>
                      <a:cubicBezTo>
                        <a:pt x="288" y="291"/>
                        <a:pt x="259" y="172"/>
                        <a:pt x="211" y="172"/>
                      </a:cubicBezTo>
                      <a:cubicBezTo>
                        <a:pt x="187" y="172"/>
                        <a:pt x="187" y="172"/>
                        <a:pt x="187" y="172"/>
                      </a:cubicBezTo>
                      <a:cubicBezTo>
                        <a:pt x="221" y="160"/>
                        <a:pt x="246" y="127"/>
                        <a:pt x="246" y="89"/>
                      </a:cubicBezTo>
                      <a:cubicBezTo>
                        <a:pt x="246" y="40"/>
                        <a:pt x="206" y="0"/>
                        <a:pt x="157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48">
                  <a:extLst>
                    <a:ext uri="{FF2B5EF4-FFF2-40B4-BE49-F238E27FC236}">
                      <a16:creationId xmlns:a16="http://schemas.microsoft.com/office/drawing/2014/main" id="{1C74E746-C263-31CD-053E-11CDA9A11B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1871"/>
                  <a:ext cx="475" cy="750"/>
                </a:xfrm>
                <a:custGeom>
                  <a:avLst/>
                  <a:gdLst>
                    <a:gd name="T0" fmla="*/ 128 w 200"/>
                    <a:gd name="T1" fmla="*/ 0 h 315"/>
                    <a:gd name="T2" fmla="*/ 55 w 200"/>
                    <a:gd name="T3" fmla="*/ 73 h 315"/>
                    <a:gd name="T4" fmla="*/ 103 w 200"/>
                    <a:gd name="T5" fmla="*/ 141 h 315"/>
                    <a:gd name="T6" fmla="*/ 84 w 200"/>
                    <a:gd name="T7" fmla="*/ 141 h 315"/>
                    <a:gd name="T8" fmla="*/ 13 w 200"/>
                    <a:gd name="T9" fmla="*/ 261 h 315"/>
                    <a:gd name="T10" fmla="*/ 23 w 200"/>
                    <a:gd name="T11" fmla="*/ 315 h 315"/>
                    <a:gd name="T12" fmla="*/ 108 w 200"/>
                    <a:gd name="T13" fmla="*/ 315 h 315"/>
                    <a:gd name="T14" fmla="*/ 126 w 200"/>
                    <a:gd name="T15" fmla="*/ 166 h 315"/>
                    <a:gd name="T16" fmla="*/ 107 w 200"/>
                    <a:gd name="T17" fmla="*/ 147 h 315"/>
                    <a:gd name="T18" fmla="*/ 149 w 200"/>
                    <a:gd name="T19" fmla="*/ 147 h 315"/>
                    <a:gd name="T20" fmla="*/ 130 w 200"/>
                    <a:gd name="T21" fmla="*/ 166 h 315"/>
                    <a:gd name="T22" fmla="*/ 148 w 200"/>
                    <a:gd name="T23" fmla="*/ 315 h 315"/>
                    <a:gd name="T24" fmla="*/ 168 w 200"/>
                    <a:gd name="T25" fmla="*/ 315 h 315"/>
                    <a:gd name="T26" fmla="*/ 161 w 200"/>
                    <a:gd name="T27" fmla="*/ 245 h 315"/>
                    <a:gd name="T28" fmla="*/ 166 w 200"/>
                    <a:gd name="T29" fmla="*/ 228 h 315"/>
                    <a:gd name="T30" fmla="*/ 194 w 200"/>
                    <a:gd name="T31" fmla="*/ 152 h 315"/>
                    <a:gd name="T32" fmla="*/ 172 w 200"/>
                    <a:gd name="T33" fmla="*/ 141 h 315"/>
                    <a:gd name="T34" fmla="*/ 152 w 200"/>
                    <a:gd name="T35" fmla="*/ 141 h 315"/>
                    <a:gd name="T36" fmla="*/ 200 w 200"/>
                    <a:gd name="T37" fmla="*/ 73 h 315"/>
                    <a:gd name="T38" fmla="*/ 128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128" y="0"/>
                      </a:moveTo>
                      <a:cubicBezTo>
                        <a:pt x="88" y="0"/>
                        <a:pt x="55" y="33"/>
                        <a:pt x="55" y="73"/>
                      </a:cubicBezTo>
                      <a:cubicBezTo>
                        <a:pt x="55" y="104"/>
                        <a:pt x="76" y="131"/>
                        <a:pt x="103" y="141"/>
                      </a:cubicBezTo>
                      <a:cubicBezTo>
                        <a:pt x="84" y="141"/>
                        <a:pt x="84" y="141"/>
                        <a:pt x="84" y="141"/>
                      </a:cubicBezTo>
                      <a:cubicBezTo>
                        <a:pt x="45" y="141"/>
                        <a:pt x="21" y="238"/>
                        <a:pt x="13" y="261"/>
                      </a:cubicBezTo>
                      <a:cubicBezTo>
                        <a:pt x="0" y="296"/>
                        <a:pt x="23" y="315"/>
                        <a:pt x="23" y="315"/>
                      </a:cubicBezTo>
                      <a:cubicBezTo>
                        <a:pt x="108" y="315"/>
                        <a:pt x="108" y="315"/>
                        <a:pt x="108" y="315"/>
                      </a:cubicBezTo>
                      <a:cubicBezTo>
                        <a:pt x="126" y="166"/>
                        <a:pt x="126" y="166"/>
                        <a:pt x="126" y="166"/>
                      </a:cubicBezTo>
                      <a:cubicBezTo>
                        <a:pt x="107" y="147"/>
                        <a:pt x="107" y="147"/>
                        <a:pt x="107" y="147"/>
                      </a:cubicBezTo>
                      <a:cubicBezTo>
                        <a:pt x="149" y="147"/>
                        <a:pt x="149" y="147"/>
                        <a:pt x="149" y="147"/>
                      </a:cubicBezTo>
                      <a:cubicBezTo>
                        <a:pt x="130" y="166"/>
                        <a:pt x="130" y="166"/>
                        <a:pt x="130" y="166"/>
                      </a:cubicBezTo>
                      <a:cubicBezTo>
                        <a:pt x="148" y="315"/>
                        <a:pt x="148" y="315"/>
                        <a:pt x="148" y="315"/>
                      </a:cubicBezTo>
                      <a:cubicBezTo>
                        <a:pt x="168" y="315"/>
                        <a:pt x="168" y="315"/>
                        <a:pt x="168" y="315"/>
                      </a:cubicBezTo>
                      <a:cubicBezTo>
                        <a:pt x="160" y="303"/>
                        <a:pt x="149" y="279"/>
                        <a:pt x="161" y="245"/>
                      </a:cubicBezTo>
                      <a:cubicBezTo>
                        <a:pt x="162" y="241"/>
                        <a:pt x="164" y="235"/>
                        <a:pt x="166" y="228"/>
                      </a:cubicBezTo>
                      <a:cubicBezTo>
                        <a:pt x="173" y="207"/>
                        <a:pt x="182" y="178"/>
                        <a:pt x="194" y="152"/>
                      </a:cubicBezTo>
                      <a:cubicBezTo>
                        <a:pt x="188" y="145"/>
                        <a:pt x="180" y="141"/>
                        <a:pt x="172" y="141"/>
                      </a:cubicBezTo>
                      <a:cubicBezTo>
                        <a:pt x="152" y="141"/>
                        <a:pt x="152" y="141"/>
                        <a:pt x="152" y="141"/>
                      </a:cubicBezTo>
                      <a:cubicBezTo>
                        <a:pt x="180" y="131"/>
                        <a:pt x="200" y="104"/>
                        <a:pt x="200" y="73"/>
                      </a:cubicBezTo>
                      <a:cubicBezTo>
                        <a:pt x="200" y="33"/>
                        <a:pt x="168" y="0"/>
                        <a:pt x="128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49">
                  <a:extLst>
                    <a:ext uri="{FF2B5EF4-FFF2-40B4-BE49-F238E27FC236}">
                      <a16:creationId xmlns:a16="http://schemas.microsoft.com/office/drawing/2014/main" id="{DAB4AD8A-32D9-DA19-2869-9F4D5D30C9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0" y="1871"/>
                  <a:ext cx="474" cy="750"/>
                </a:xfrm>
                <a:custGeom>
                  <a:avLst/>
                  <a:gdLst>
                    <a:gd name="T0" fmla="*/ 72 w 200"/>
                    <a:gd name="T1" fmla="*/ 0 h 315"/>
                    <a:gd name="T2" fmla="*/ 0 w 200"/>
                    <a:gd name="T3" fmla="*/ 73 h 315"/>
                    <a:gd name="T4" fmla="*/ 48 w 200"/>
                    <a:gd name="T5" fmla="*/ 141 h 315"/>
                    <a:gd name="T6" fmla="*/ 28 w 200"/>
                    <a:gd name="T7" fmla="*/ 141 h 315"/>
                    <a:gd name="T8" fmla="*/ 6 w 200"/>
                    <a:gd name="T9" fmla="*/ 152 h 315"/>
                    <a:gd name="T10" fmla="*/ 34 w 200"/>
                    <a:gd name="T11" fmla="*/ 228 h 315"/>
                    <a:gd name="T12" fmla="*/ 39 w 200"/>
                    <a:gd name="T13" fmla="*/ 245 h 315"/>
                    <a:gd name="T14" fmla="*/ 32 w 200"/>
                    <a:gd name="T15" fmla="*/ 315 h 315"/>
                    <a:gd name="T16" fmla="*/ 52 w 200"/>
                    <a:gd name="T17" fmla="*/ 315 h 315"/>
                    <a:gd name="T18" fmla="*/ 70 w 200"/>
                    <a:gd name="T19" fmla="*/ 166 h 315"/>
                    <a:gd name="T20" fmla="*/ 52 w 200"/>
                    <a:gd name="T21" fmla="*/ 147 h 315"/>
                    <a:gd name="T22" fmla="*/ 93 w 200"/>
                    <a:gd name="T23" fmla="*/ 147 h 315"/>
                    <a:gd name="T24" fmla="*/ 74 w 200"/>
                    <a:gd name="T25" fmla="*/ 166 h 315"/>
                    <a:gd name="T26" fmla="*/ 92 w 200"/>
                    <a:gd name="T27" fmla="*/ 315 h 315"/>
                    <a:gd name="T28" fmla="*/ 178 w 200"/>
                    <a:gd name="T29" fmla="*/ 315 h 315"/>
                    <a:gd name="T30" fmla="*/ 187 w 200"/>
                    <a:gd name="T31" fmla="*/ 261 h 315"/>
                    <a:gd name="T32" fmla="*/ 116 w 200"/>
                    <a:gd name="T33" fmla="*/ 141 h 315"/>
                    <a:gd name="T34" fmla="*/ 97 w 200"/>
                    <a:gd name="T35" fmla="*/ 141 h 315"/>
                    <a:gd name="T36" fmla="*/ 145 w 200"/>
                    <a:gd name="T37" fmla="*/ 73 h 315"/>
                    <a:gd name="T38" fmla="*/ 72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72" y="0"/>
                      </a:moveTo>
                      <a:cubicBezTo>
                        <a:pt x="32" y="0"/>
                        <a:pt x="0" y="33"/>
                        <a:pt x="0" y="73"/>
                      </a:cubicBezTo>
                      <a:cubicBezTo>
                        <a:pt x="0" y="104"/>
                        <a:pt x="20" y="131"/>
                        <a:pt x="48" y="141"/>
                      </a:cubicBezTo>
                      <a:cubicBezTo>
                        <a:pt x="28" y="141"/>
                        <a:pt x="28" y="141"/>
                        <a:pt x="28" y="141"/>
                      </a:cubicBezTo>
                      <a:cubicBezTo>
                        <a:pt x="20" y="141"/>
                        <a:pt x="13" y="145"/>
                        <a:pt x="6" y="152"/>
                      </a:cubicBezTo>
                      <a:cubicBezTo>
                        <a:pt x="18" y="178"/>
                        <a:pt x="27" y="207"/>
                        <a:pt x="34" y="228"/>
                      </a:cubicBezTo>
                      <a:cubicBezTo>
                        <a:pt x="36" y="235"/>
                        <a:pt x="38" y="241"/>
                        <a:pt x="39" y="245"/>
                      </a:cubicBezTo>
                      <a:cubicBezTo>
                        <a:pt x="52" y="279"/>
                        <a:pt x="40" y="303"/>
                        <a:pt x="32" y="315"/>
                      </a:cubicBezTo>
                      <a:cubicBezTo>
                        <a:pt x="52" y="315"/>
                        <a:pt x="52" y="315"/>
                        <a:pt x="52" y="315"/>
                      </a:cubicBezTo>
                      <a:cubicBezTo>
                        <a:pt x="70" y="166"/>
                        <a:pt x="70" y="166"/>
                        <a:pt x="70" y="166"/>
                      </a:cubicBezTo>
                      <a:cubicBezTo>
                        <a:pt x="52" y="147"/>
                        <a:pt x="52" y="147"/>
                        <a:pt x="52" y="147"/>
                      </a:cubicBezTo>
                      <a:cubicBezTo>
                        <a:pt x="93" y="147"/>
                        <a:pt x="93" y="147"/>
                        <a:pt x="93" y="147"/>
                      </a:cubicBezTo>
                      <a:cubicBezTo>
                        <a:pt x="74" y="166"/>
                        <a:pt x="74" y="166"/>
                        <a:pt x="74" y="166"/>
                      </a:cubicBezTo>
                      <a:cubicBezTo>
                        <a:pt x="92" y="315"/>
                        <a:pt x="92" y="315"/>
                        <a:pt x="92" y="315"/>
                      </a:cubicBezTo>
                      <a:cubicBezTo>
                        <a:pt x="178" y="315"/>
                        <a:pt x="178" y="315"/>
                        <a:pt x="178" y="315"/>
                      </a:cubicBezTo>
                      <a:cubicBezTo>
                        <a:pt x="178" y="315"/>
                        <a:pt x="200" y="296"/>
                        <a:pt x="187" y="261"/>
                      </a:cubicBezTo>
                      <a:cubicBezTo>
                        <a:pt x="179" y="238"/>
                        <a:pt x="156" y="141"/>
                        <a:pt x="116" y="141"/>
                      </a:cubicBezTo>
                      <a:cubicBezTo>
                        <a:pt x="97" y="141"/>
                        <a:pt x="97" y="141"/>
                        <a:pt x="97" y="141"/>
                      </a:cubicBezTo>
                      <a:cubicBezTo>
                        <a:pt x="125" y="131"/>
                        <a:pt x="145" y="104"/>
                        <a:pt x="145" y="73"/>
                      </a:cubicBezTo>
                      <a:cubicBezTo>
                        <a:pt x="145" y="33"/>
                        <a:pt x="112" y="0"/>
                        <a:pt x="72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22480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3"/>
          <p:cNvSpPr>
            <a:spLocks noChangeArrowheads="1"/>
          </p:cNvSpPr>
          <p:nvPr/>
        </p:nvSpPr>
        <p:spPr bwMode="auto">
          <a:xfrm>
            <a:off x="751488" y="244400"/>
            <a:ext cx="1549128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不足和改善</a:t>
            </a:r>
          </a:p>
        </p:txBody>
      </p:sp>
      <p:sp>
        <p:nvSpPr>
          <p:cNvPr id="36" name="Line 548">
            <a:extLst>
              <a:ext uri="{FF2B5EF4-FFF2-40B4-BE49-F238E27FC236}">
                <a16:creationId xmlns:a16="http://schemas.microsoft.com/office/drawing/2014/main" id="{3D7724A1-9B7D-351C-1A4D-EB9A11AB8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106" y="1851670"/>
            <a:ext cx="18902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7" name="Rectangle 68">
            <a:extLst>
              <a:ext uri="{FF2B5EF4-FFF2-40B4-BE49-F238E27FC236}">
                <a16:creationId xmlns:a16="http://schemas.microsoft.com/office/drawing/2014/main" id="{4D3E897B-D41A-ADDA-6259-29A470BEA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84" y="1981570"/>
            <a:ext cx="3611038" cy="218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900" b="1" dirty="0" err="1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goms</a:t>
            </a:r>
            <a:r>
              <a:rPr lang="zh-CN" altLang="en-US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流程复杂，表单交互</a:t>
            </a:r>
            <a:r>
              <a:rPr lang="en-US" altLang="zh-CN" sz="9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不够友好。部分提示信息不合理，存在少量偶现性问题。仍存在一些冗余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设计不合理代码（比如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推送相关）。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老中台 ：</a:t>
            </a:r>
            <a:r>
              <a:rPr lang="en-US" altLang="zh-CN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系统偶现宕机情况 期初缺少监控手段。系统宕机问题难以定位 ，目前已添加部分监控。</a:t>
            </a:r>
            <a:r>
              <a:rPr lang="en-US" altLang="zh-CN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技术栈落后，开发效率低，开发规范遵守难度大（目前已升级技术方案）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运维剖析  </a:t>
            </a:r>
            <a:endParaRPr lang="en-US" altLang="zh-CN" sz="900" b="1" dirty="0">
              <a:solidFill>
                <a:srgbClr val="0032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9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）工时填写不合理 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功能易用性不好，业务答疑问题较多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；系统存在部分偶现性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 5%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；业务数据维护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，新需求引发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bug20%</a:t>
            </a:r>
          </a:p>
          <a:p>
            <a:pPr>
              <a:lnSpc>
                <a:spcPts val="1500"/>
              </a:lnSpc>
            </a:pP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FEC57B6-2281-F8F5-A140-FD82B6629C55}"/>
              </a:ext>
            </a:extLst>
          </p:cNvPr>
          <p:cNvGrpSpPr/>
          <p:nvPr/>
        </p:nvGrpSpPr>
        <p:grpSpPr>
          <a:xfrm>
            <a:off x="932397" y="1115208"/>
            <a:ext cx="2792990" cy="554778"/>
            <a:chOff x="5091189" y="826506"/>
            <a:chExt cx="2891523" cy="554778"/>
          </a:xfrm>
        </p:grpSpPr>
        <p:pic>
          <p:nvPicPr>
            <p:cNvPr id="50" name="圆角矩形 53">
              <a:extLst>
                <a:ext uri="{FF2B5EF4-FFF2-40B4-BE49-F238E27FC236}">
                  <a16:creationId xmlns:a16="http://schemas.microsoft.com/office/drawing/2014/main" id="{AAE78364-D220-B7EF-5FE6-DEE8BE0EF2F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1189" y="826506"/>
              <a:ext cx="2891523" cy="554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 Box 77">
              <a:extLst>
                <a:ext uri="{FF2B5EF4-FFF2-40B4-BE49-F238E27FC236}">
                  <a16:creationId xmlns:a16="http://schemas.microsoft.com/office/drawing/2014/main" id="{BA89BDFE-4F91-21E0-D5FC-A9DB46A37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3551" y="937034"/>
              <a:ext cx="24852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dirty="0">
                  <a:solidFill>
                    <a:srgbClr val="00327D"/>
                  </a:solidFill>
                  <a:ea typeface="方正兰亭大黑_GBK" pitchFamily="2" charset="-122"/>
                </a:rPr>
                <a:t>系统现状</a:t>
              </a:r>
              <a:r>
                <a:rPr lang="en-US" altLang="zh-CN" dirty="0">
                  <a:solidFill>
                    <a:srgbClr val="00327D"/>
                  </a:solidFill>
                  <a:ea typeface="方正兰亭大黑_GBK" pitchFamily="2" charset="-122"/>
                </a:rPr>
                <a:t>/</a:t>
              </a:r>
              <a:r>
                <a:rPr lang="zh-CN" altLang="en-US" dirty="0">
                  <a:solidFill>
                    <a:srgbClr val="00327D"/>
                  </a:solidFill>
                  <a:ea typeface="方正兰亭大黑_GBK" pitchFamily="2" charset="-122"/>
                </a:rPr>
                <a:t>运维剖析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FE3E864-CB87-83DA-B6C5-D60FCF5B39D7}"/>
              </a:ext>
            </a:extLst>
          </p:cNvPr>
          <p:cNvGrpSpPr/>
          <p:nvPr/>
        </p:nvGrpSpPr>
        <p:grpSpPr>
          <a:xfrm>
            <a:off x="827584" y="1173452"/>
            <a:ext cx="476131" cy="476303"/>
            <a:chOff x="4360876" y="3993186"/>
            <a:chExt cx="1684779" cy="1685388"/>
          </a:xfrm>
        </p:grpSpPr>
        <p:sp>
          <p:nvSpPr>
            <p:cNvPr id="53" name="泪滴形 52">
              <a:extLst>
                <a:ext uri="{FF2B5EF4-FFF2-40B4-BE49-F238E27FC236}">
                  <a16:creationId xmlns:a16="http://schemas.microsoft.com/office/drawing/2014/main" id="{547B6914-289F-4BB7-5DDE-7EE9F32E43CF}"/>
                </a:ext>
              </a:extLst>
            </p:cNvPr>
            <p:cNvSpPr/>
            <p:nvPr/>
          </p:nvSpPr>
          <p:spPr>
            <a:xfrm>
              <a:off x="4360876" y="3993186"/>
              <a:ext cx="1684779" cy="1685388"/>
            </a:xfrm>
            <a:prstGeom prst="teardrop">
              <a:avLst/>
            </a:prstGeom>
            <a:solidFill>
              <a:srgbClr val="2F5597"/>
            </a:solidFill>
            <a:ln w="31750">
              <a:solidFill>
                <a:srgbClr val="F9F9F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9D2AC414-0136-255E-71DD-0EBC8DC0DC7F}"/>
                </a:ext>
              </a:extLst>
            </p:cNvPr>
            <p:cNvGrpSpPr/>
            <p:nvPr/>
          </p:nvGrpSpPr>
          <p:grpSpPr>
            <a:xfrm>
              <a:off x="4524458" y="4086677"/>
              <a:ext cx="1414523" cy="1415036"/>
              <a:chOff x="3394374" y="2689764"/>
              <a:chExt cx="1061215" cy="1061359"/>
            </a:xfrm>
          </p:grpSpPr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BDB8AC96-5A03-7F37-5CBE-AB13241B537F}"/>
                  </a:ext>
                </a:extLst>
              </p:cNvPr>
              <p:cNvGrpSpPr/>
              <p:nvPr/>
            </p:nvGrpSpPr>
            <p:grpSpPr>
              <a:xfrm>
                <a:off x="3394374" y="2689764"/>
                <a:ext cx="1061215" cy="1061359"/>
                <a:chOff x="4926840" y="1732375"/>
                <a:chExt cx="1656097" cy="1656098"/>
              </a:xfrm>
            </p:grpSpPr>
            <p:sp>
              <p:nvSpPr>
                <p:cNvPr id="60" name="任意多边形 201">
                  <a:extLst>
                    <a:ext uri="{FF2B5EF4-FFF2-40B4-BE49-F238E27FC236}">
                      <a16:creationId xmlns:a16="http://schemas.microsoft.com/office/drawing/2014/main" id="{13226395-D7C2-181F-F57C-F3DD3D2FD530}"/>
                    </a:ext>
                  </a:extLst>
                </p:cNvPr>
                <p:cNvSpPr/>
                <p:nvPr/>
              </p:nvSpPr>
              <p:spPr>
                <a:xfrm>
                  <a:off x="4926840" y="1732375"/>
                  <a:ext cx="1656097" cy="1656098"/>
                </a:xfrm>
                <a:custGeom>
                  <a:avLst/>
                  <a:gdLst>
                    <a:gd name="connsiteX0" fmla="*/ 734066 w 1656097"/>
                    <a:gd name="connsiteY0" fmla="*/ 0 h 1656098"/>
                    <a:gd name="connsiteX1" fmla="*/ 922032 w 1656097"/>
                    <a:gd name="connsiteY1" fmla="*/ 0 h 1656098"/>
                    <a:gd name="connsiteX2" fmla="*/ 958682 w 1656097"/>
                    <a:gd name="connsiteY2" fmla="*/ 170987 h 1656098"/>
                    <a:gd name="connsiteX3" fmla="*/ 967537 w 1656097"/>
                    <a:gd name="connsiteY3" fmla="*/ 172338 h 1656098"/>
                    <a:gd name="connsiteX4" fmla="*/ 1042604 w 1656097"/>
                    <a:gd name="connsiteY4" fmla="*/ 194634 h 1656098"/>
                    <a:gd name="connsiteX5" fmla="*/ 1160682 w 1656097"/>
                    <a:gd name="connsiteY5" fmla="*/ 63947 h 1656098"/>
                    <a:gd name="connsiteX6" fmla="*/ 1323465 w 1656097"/>
                    <a:gd name="connsiteY6" fmla="*/ 157929 h 1656098"/>
                    <a:gd name="connsiteX7" fmla="*/ 1271151 w 1656097"/>
                    <a:gd name="connsiteY7" fmla="*/ 319877 h 1656098"/>
                    <a:gd name="connsiteX8" fmla="*/ 1280994 w 1656097"/>
                    <a:gd name="connsiteY8" fmla="*/ 327054 h 1656098"/>
                    <a:gd name="connsiteX9" fmla="*/ 1333335 w 1656097"/>
                    <a:gd name="connsiteY9" fmla="*/ 377405 h 1656098"/>
                    <a:gd name="connsiteX10" fmla="*/ 1338950 w 1656097"/>
                    <a:gd name="connsiteY10" fmla="*/ 384065 h 1656098"/>
                    <a:gd name="connsiteX11" fmla="*/ 1498169 w 1656097"/>
                    <a:gd name="connsiteY11" fmla="*/ 332634 h 1656098"/>
                    <a:gd name="connsiteX12" fmla="*/ 1592152 w 1656097"/>
                    <a:gd name="connsiteY12" fmla="*/ 495417 h 1656098"/>
                    <a:gd name="connsiteX13" fmla="*/ 1473528 w 1656097"/>
                    <a:gd name="connsiteY13" fmla="*/ 602595 h 1656098"/>
                    <a:gd name="connsiteX14" fmla="*/ 1483127 w 1656097"/>
                    <a:gd name="connsiteY14" fmla="*/ 626411 h 1656098"/>
                    <a:gd name="connsiteX15" fmla="*/ 1501984 w 1656097"/>
                    <a:gd name="connsiteY15" fmla="*/ 701032 h 1656098"/>
                    <a:gd name="connsiteX16" fmla="*/ 1656097 w 1656097"/>
                    <a:gd name="connsiteY16" fmla="*/ 734067 h 1656098"/>
                    <a:gd name="connsiteX17" fmla="*/ 1656097 w 1656097"/>
                    <a:gd name="connsiteY17" fmla="*/ 922032 h 1656098"/>
                    <a:gd name="connsiteX18" fmla="*/ 1511749 w 1656097"/>
                    <a:gd name="connsiteY18" fmla="*/ 952973 h 1656098"/>
                    <a:gd name="connsiteX19" fmla="*/ 1506114 w 1656097"/>
                    <a:gd name="connsiteY19" fmla="*/ 989892 h 1656098"/>
                    <a:gd name="connsiteX20" fmla="*/ 1491538 w 1656097"/>
                    <a:gd name="connsiteY20" fmla="*/ 1048074 h 1656098"/>
                    <a:gd name="connsiteX21" fmla="*/ 1485827 w 1656097"/>
                    <a:gd name="connsiteY21" fmla="*/ 1064617 h 1656098"/>
                    <a:gd name="connsiteX22" fmla="*/ 1592152 w 1656097"/>
                    <a:gd name="connsiteY22" fmla="*/ 1160683 h 1656098"/>
                    <a:gd name="connsiteX23" fmla="*/ 1498169 w 1656097"/>
                    <a:gd name="connsiteY23" fmla="*/ 1323465 h 1656098"/>
                    <a:gd name="connsiteX24" fmla="*/ 1367507 w 1656097"/>
                    <a:gd name="connsiteY24" fmla="*/ 1281258 h 1656098"/>
                    <a:gd name="connsiteX25" fmla="*/ 1351398 w 1656097"/>
                    <a:gd name="connsiteY25" fmla="*/ 1303350 h 1656098"/>
                    <a:gd name="connsiteX26" fmla="*/ 1301049 w 1656097"/>
                    <a:gd name="connsiteY26" fmla="*/ 1355691 h 1656098"/>
                    <a:gd name="connsiteX27" fmla="*/ 1282493 w 1656097"/>
                    <a:gd name="connsiteY27" fmla="*/ 1371332 h 1656098"/>
                    <a:gd name="connsiteX28" fmla="*/ 1323465 w 1656097"/>
                    <a:gd name="connsiteY28" fmla="*/ 1498169 h 1656098"/>
                    <a:gd name="connsiteX29" fmla="*/ 1160682 w 1656097"/>
                    <a:gd name="connsiteY29" fmla="*/ 1592152 h 1656098"/>
                    <a:gd name="connsiteX30" fmla="*/ 1074277 w 1656097"/>
                    <a:gd name="connsiteY30" fmla="*/ 1496521 h 1656098"/>
                    <a:gd name="connsiteX31" fmla="*/ 1052042 w 1656097"/>
                    <a:gd name="connsiteY31" fmla="*/ 1505484 h 1656098"/>
                    <a:gd name="connsiteX32" fmla="*/ 948719 w 1656097"/>
                    <a:gd name="connsiteY32" fmla="*/ 1531593 h 1656098"/>
                    <a:gd name="connsiteX33" fmla="*/ 922032 w 1656097"/>
                    <a:gd name="connsiteY33" fmla="*/ 1656098 h 1656098"/>
                    <a:gd name="connsiteX34" fmla="*/ 734066 w 1656097"/>
                    <a:gd name="connsiteY34" fmla="*/ 1656098 h 1656098"/>
                    <a:gd name="connsiteX35" fmla="*/ 707323 w 1656097"/>
                    <a:gd name="connsiteY35" fmla="*/ 1531333 h 1656098"/>
                    <a:gd name="connsiteX36" fmla="*/ 688561 w 1656097"/>
                    <a:gd name="connsiteY36" fmla="*/ 1528470 h 1656098"/>
                    <a:gd name="connsiteX37" fmla="*/ 581645 w 1656097"/>
                    <a:gd name="connsiteY37" fmla="*/ 1496716 h 1656098"/>
                    <a:gd name="connsiteX38" fmla="*/ 495416 w 1656097"/>
                    <a:gd name="connsiteY38" fmla="*/ 1592152 h 1656098"/>
                    <a:gd name="connsiteX39" fmla="*/ 332634 w 1656097"/>
                    <a:gd name="connsiteY39" fmla="*/ 1498169 h 1656098"/>
                    <a:gd name="connsiteX40" fmla="*/ 373389 w 1656097"/>
                    <a:gd name="connsiteY40" fmla="*/ 1372000 h 1656098"/>
                    <a:gd name="connsiteX41" fmla="*/ 293970 w 1656097"/>
                    <a:gd name="connsiteY41" fmla="*/ 1290661 h 1656098"/>
                    <a:gd name="connsiteX42" fmla="*/ 287662 w 1656097"/>
                    <a:gd name="connsiteY42" fmla="*/ 1281558 h 1656098"/>
                    <a:gd name="connsiteX43" fmla="*/ 157930 w 1656097"/>
                    <a:gd name="connsiteY43" fmla="*/ 1323465 h 1656098"/>
                    <a:gd name="connsiteX44" fmla="*/ 63947 w 1656097"/>
                    <a:gd name="connsiteY44" fmla="*/ 1160683 h 1656098"/>
                    <a:gd name="connsiteX45" fmla="*/ 170348 w 1656097"/>
                    <a:gd name="connsiteY45" fmla="*/ 1064548 h 1656098"/>
                    <a:gd name="connsiteX46" fmla="*/ 159896 w 1656097"/>
                    <a:gd name="connsiteY46" fmla="*/ 1031651 h 1656098"/>
                    <a:gd name="connsiteX47" fmla="*/ 144063 w 1656097"/>
                    <a:gd name="connsiteY47" fmla="*/ 952912 h 1656098"/>
                    <a:gd name="connsiteX48" fmla="*/ 0 w 1656097"/>
                    <a:gd name="connsiteY48" fmla="*/ 922032 h 1656098"/>
                    <a:gd name="connsiteX49" fmla="*/ 0 w 1656097"/>
                    <a:gd name="connsiteY49" fmla="*/ 734067 h 1656098"/>
                    <a:gd name="connsiteX50" fmla="*/ 152682 w 1656097"/>
                    <a:gd name="connsiteY50" fmla="*/ 701339 h 1656098"/>
                    <a:gd name="connsiteX51" fmla="*/ 159896 w 1656097"/>
                    <a:gd name="connsiteY51" fmla="*/ 669158 h 1656098"/>
                    <a:gd name="connsiteX52" fmla="*/ 182923 w 1656097"/>
                    <a:gd name="connsiteY52" fmla="*/ 602913 h 1656098"/>
                    <a:gd name="connsiteX53" fmla="*/ 63947 w 1656097"/>
                    <a:gd name="connsiteY53" fmla="*/ 495417 h 1656098"/>
                    <a:gd name="connsiteX54" fmla="*/ 157930 w 1656097"/>
                    <a:gd name="connsiteY54" fmla="*/ 332634 h 1656098"/>
                    <a:gd name="connsiteX55" fmla="*/ 318389 w 1656097"/>
                    <a:gd name="connsiteY55" fmla="*/ 384465 h 1656098"/>
                    <a:gd name="connsiteX56" fmla="*/ 353537 w 1656097"/>
                    <a:gd name="connsiteY56" fmla="*/ 346539 h 1656098"/>
                    <a:gd name="connsiteX57" fmla="*/ 385166 w 1656097"/>
                    <a:gd name="connsiteY57" fmla="*/ 320558 h 1656098"/>
                    <a:gd name="connsiteX58" fmla="*/ 332634 w 1656097"/>
                    <a:gd name="connsiteY58" fmla="*/ 157929 h 1656098"/>
                    <a:gd name="connsiteX59" fmla="*/ 495416 w 1656097"/>
                    <a:gd name="connsiteY59" fmla="*/ 63947 h 1656098"/>
                    <a:gd name="connsiteX60" fmla="*/ 612546 w 1656097"/>
                    <a:gd name="connsiteY60" fmla="*/ 193585 h 1656098"/>
                    <a:gd name="connsiteX61" fmla="*/ 688561 w 1656097"/>
                    <a:gd name="connsiteY61" fmla="*/ 172338 h 1656098"/>
                    <a:gd name="connsiteX62" fmla="*/ 697415 w 1656097"/>
                    <a:gd name="connsiteY62" fmla="*/ 170987 h 165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1656097" h="1656098">
                      <a:moveTo>
                        <a:pt x="734066" y="0"/>
                      </a:moveTo>
                      <a:lnTo>
                        <a:pt x="922032" y="0"/>
                      </a:lnTo>
                      <a:lnTo>
                        <a:pt x="958682" y="170987"/>
                      </a:lnTo>
                      <a:lnTo>
                        <a:pt x="967537" y="172338"/>
                      </a:lnTo>
                      <a:lnTo>
                        <a:pt x="1042604" y="194634"/>
                      </a:lnTo>
                      <a:lnTo>
                        <a:pt x="1160682" y="63947"/>
                      </a:lnTo>
                      <a:lnTo>
                        <a:pt x="1323465" y="157929"/>
                      </a:lnTo>
                      <a:lnTo>
                        <a:pt x="1271151" y="319877"/>
                      </a:lnTo>
                      <a:lnTo>
                        <a:pt x="1280994" y="327054"/>
                      </a:lnTo>
                      <a:cubicBezTo>
                        <a:pt x="1299308" y="342918"/>
                        <a:pt x="1316780" y="359726"/>
                        <a:pt x="1333335" y="377405"/>
                      </a:cubicBezTo>
                      <a:lnTo>
                        <a:pt x="1338950" y="384065"/>
                      </a:lnTo>
                      <a:lnTo>
                        <a:pt x="1498169" y="332634"/>
                      </a:lnTo>
                      <a:lnTo>
                        <a:pt x="1592152" y="495417"/>
                      </a:lnTo>
                      <a:lnTo>
                        <a:pt x="1473528" y="602595"/>
                      </a:lnTo>
                      <a:lnTo>
                        <a:pt x="1483127" y="626411"/>
                      </a:lnTo>
                      <a:lnTo>
                        <a:pt x="1501984" y="701032"/>
                      </a:lnTo>
                      <a:lnTo>
                        <a:pt x="1656097" y="734067"/>
                      </a:lnTo>
                      <a:lnTo>
                        <a:pt x="1656097" y="922032"/>
                      </a:lnTo>
                      <a:lnTo>
                        <a:pt x="1511749" y="952973"/>
                      </a:lnTo>
                      <a:lnTo>
                        <a:pt x="1506114" y="989892"/>
                      </a:lnTo>
                      <a:cubicBezTo>
                        <a:pt x="1502081" y="1009604"/>
                        <a:pt x="1497209" y="1029011"/>
                        <a:pt x="1491538" y="1048074"/>
                      </a:cubicBezTo>
                      <a:lnTo>
                        <a:pt x="1485827" y="1064617"/>
                      </a:lnTo>
                      <a:lnTo>
                        <a:pt x="1592152" y="1160683"/>
                      </a:lnTo>
                      <a:lnTo>
                        <a:pt x="1498169" y="1323465"/>
                      </a:lnTo>
                      <a:lnTo>
                        <a:pt x="1367507" y="1281258"/>
                      </a:lnTo>
                      <a:lnTo>
                        <a:pt x="1351398" y="1303350"/>
                      </a:lnTo>
                      <a:cubicBezTo>
                        <a:pt x="1335535" y="1321664"/>
                        <a:pt x="1318727" y="1339136"/>
                        <a:pt x="1301049" y="1355691"/>
                      </a:cubicBezTo>
                      <a:lnTo>
                        <a:pt x="1282493" y="1371332"/>
                      </a:lnTo>
                      <a:lnTo>
                        <a:pt x="1323465" y="1498169"/>
                      </a:lnTo>
                      <a:lnTo>
                        <a:pt x="1160682" y="1592152"/>
                      </a:lnTo>
                      <a:lnTo>
                        <a:pt x="1074277" y="1496521"/>
                      </a:lnTo>
                      <a:lnTo>
                        <a:pt x="1052042" y="1505484"/>
                      </a:lnTo>
                      <a:lnTo>
                        <a:pt x="948719" y="1531593"/>
                      </a:lnTo>
                      <a:lnTo>
                        <a:pt x="922032" y="1656098"/>
                      </a:lnTo>
                      <a:lnTo>
                        <a:pt x="734066" y="1656098"/>
                      </a:lnTo>
                      <a:lnTo>
                        <a:pt x="707323" y="1531333"/>
                      </a:lnTo>
                      <a:lnTo>
                        <a:pt x="688561" y="1528470"/>
                      </a:lnTo>
                      <a:lnTo>
                        <a:pt x="581645" y="1496716"/>
                      </a:lnTo>
                      <a:lnTo>
                        <a:pt x="495416" y="1592152"/>
                      </a:lnTo>
                      <a:lnTo>
                        <a:pt x="332634" y="1498169"/>
                      </a:lnTo>
                      <a:lnTo>
                        <a:pt x="373389" y="1372000"/>
                      </a:lnTo>
                      <a:lnTo>
                        <a:pt x="293970" y="1290661"/>
                      </a:lnTo>
                      <a:lnTo>
                        <a:pt x="287662" y="1281558"/>
                      </a:lnTo>
                      <a:lnTo>
                        <a:pt x="157930" y="1323465"/>
                      </a:lnTo>
                      <a:lnTo>
                        <a:pt x="63947" y="1160683"/>
                      </a:lnTo>
                      <a:lnTo>
                        <a:pt x="170348" y="1064548"/>
                      </a:lnTo>
                      <a:lnTo>
                        <a:pt x="159896" y="1031651"/>
                      </a:lnTo>
                      <a:lnTo>
                        <a:pt x="144063" y="952912"/>
                      </a:lnTo>
                      <a:lnTo>
                        <a:pt x="0" y="922032"/>
                      </a:lnTo>
                      <a:lnTo>
                        <a:pt x="0" y="734067"/>
                      </a:lnTo>
                      <a:lnTo>
                        <a:pt x="152682" y="701339"/>
                      </a:lnTo>
                      <a:lnTo>
                        <a:pt x="159896" y="669158"/>
                      </a:lnTo>
                      <a:lnTo>
                        <a:pt x="182923" y="602913"/>
                      </a:lnTo>
                      <a:lnTo>
                        <a:pt x="63947" y="495417"/>
                      </a:lnTo>
                      <a:lnTo>
                        <a:pt x="157930" y="332634"/>
                      </a:lnTo>
                      <a:lnTo>
                        <a:pt x="318389" y="384465"/>
                      </a:lnTo>
                      <a:lnTo>
                        <a:pt x="353537" y="346539"/>
                      </a:lnTo>
                      <a:lnTo>
                        <a:pt x="385166" y="320558"/>
                      </a:lnTo>
                      <a:lnTo>
                        <a:pt x="332634" y="157929"/>
                      </a:lnTo>
                      <a:lnTo>
                        <a:pt x="495416" y="63947"/>
                      </a:lnTo>
                      <a:lnTo>
                        <a:pt x="612546" y="193585"/>
                      </a:lnTo>
                      <a:lnTo>
                        <a:pt x="688561" y="172338"/>
                      </a:lnTo>
                      <a:lnTo>
                        <a:pt x="697415" y="17098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rgbClr val="E2E2E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90500" dist="889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6214D3D7-F911-C532-D65D-72EDBD376F9C}"/>
                    </a:ext>
                  </a:extLst>
                </p:cNvPr>
                <p:cNvSpPr/>
                <p:nvPr/>
              </p:nvSpPr>
              <p:spPr>
                <a:xfrm>
                  <a:off x="5189938" y="1995474"/>
                  <a:ext cx="1129900" cy="1129900"/>
                </a:xfrm>
                <a:prstGeom prst="ellipse">
                  <a:avLst/>
                </a:prstGeom>
                <a:solidFill>
                  <a:srgbClr val="2F5597"/>
                </a:solidFill>
                <a:ln w="22225">
                  <a:gradFill flip="none" rotWithShape="1">
                    <a:gsLst>
                      <a:gs pos="0">
                        <a:srgbClr val="CDCDCD"/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88900" dist="38100" dir="13500000">
                    <a:prstClr val="black">
                      <a:alpha val="4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906102AB-93CF-C8A3-A19D-A9DEE3625524}"/>
                    </a:ext>
                  </a:extLst>
                </p:cNvPr>
                <p:cNvSpPr/>
                <p:nvPr/>
              </p:nvSpPr>
              <p:spPr>
                <a:xfrm>
                  <a:off x="5266822" y="2076686"/>
                  <a:ext cx="976134" cy="976135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 flip="none" rotWithShape="1">
                    <a:gsLst>
                      <a:gs pos="100000">
                        <a:srgbClr val="CDCDCD"/>
                      </a:gs>
                      <a:gs pos="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889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Group 46">
                <a:extLst>
                  <a:ext uri="{FF2B5EF4-FFF2-40B4-BE49-F238E27FC236}">
                    <a16:creationId xmlns:a16="http://schemas.microsoft.com/office/drawing/2014/main" id="{957BDA92-DD14-57C5-3963-D494377BD9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703465" y="3092811"/>
                <a:ext cx="443033" cy="274322"/>
                <a:chOff x="3098" y="1701"/>
                <a:chExt cx="1486" cy="920"/>
              </a:xfrm>
              <a:solidFill>
                <a:srgbClr val="663A77"/>
              </a:solidFill>
            </p:grpSpPr>
            <p:sp>
              <p:nvSpPr>
                <p:cNvPr id="57" name="Freeform 47">
                  <a:extLst>
                    <a:ext uri="{FF2B5EF4-FFF2-40B4-BE49-F238E27FC236}">
                      <a16:creationId xmlns:a16="http://schemas.microsoft.com/office/drawing/2014/main" id="{64545D09-C8E4-8F65-F1D1-D8E2A78CF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1701"/>
                  <a:ext cx="746" cy="920"/>
                </a:xfrm>
                <a:custGeom>
                  <a:avLst/>
                  <a:gdLst>
                    <a:gd name="T0" fmla="*/ 157 w 314"/>
                    <a:gd name="T1" fmla="*/ 0 h 386"/>
                    <a:gd name="T2" fmla="*/ 68 w 314"/>
                    <a:gd name="T3" fmla="*/ 89 h 386"/>
                    <a:gd name="T4" fmla="*/ 127 w 314"/>
                    <a:gd name="T5" fmla="*/ 172 h 386"/>
                    <a:gd name="T6" fmla="*/ 103 w 314"/>
                    <a:gd name="T7" fmla="*/ 172 h 386"/>
                    <a:gd name="T8" fmla="*/ 16 w 314"/>
                    <a:gd name="T9" fmla="*/ 320 h 386"/>
                    <a:gd name="T10" fmla="*/ 28 w 314"/>
                    <a:gd name="T11" fmla="*/ 386 h 386"/>
                    <a:gd name="T12" fmla="*/ 132 w 314"/>
                    <a:gd name="T13" fmla="*/ 386 h 386"/>
                    <a:gd name="T14" fmla="*/ 154 w 314"/>
                    <a:gd name="T15" fmla="*/ 203 h 386"/>
                    <a:gd name="T16" fmla="*/ 132 w 314"/>
                    <a:gd name="T17" fmla="*/ 180 h 386"/>
                    <a:gd name="T18" fmla="*/ 182 w 314"/>
                    <a:gd name="T19" fmla="*/ 180 h 386"/>
                    <a:gd name="T20" fmla="*/ 160 w 314"/>
                    <a:gd name="T21" fmla="*/ 203 h 386"/>
                    <a:gd name="T22" fmla="*/ 182 w 314"/>
                    <a:gd name="T23" fmla="*/ 386 h 386"/>
                    <a:gd name="T24" fmla="*/ 286 w 314"/>
                    <a:gd name="T25" fmla="*/ 386 h 386"/>
                    <a:gd name="T26" fmla="*/ 298 w 314"/>
                    <a:gd name="T27" fmla="*/ 320 h 386"/>
                    <a:gd name="T28" fmla="*/ 211 w 314"/>
                    <a:gd name="T29" fmla="*/ 172 h 386"/>
                    <a:gd name="T30" fmla="*/ 187 w 314"/>
                    <a:gd name="T31" fmla="*/ 172 h 386"/>
                    <a:gd name="T32" fmla="*/ 246 w 314"/>
                    <a:gd name="T33" fmla="*/ 89 h 386"/>
                    <a:gd name="T34" fmla="*/ 157 w 314"/>
                    <a:gd name="T35" fmla="*/ 0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14" h="386">
                      <a:moveTo>
                        <a:pt x="157" y="0"/>
                      </a:moveTo>
                      <a:cubicBezTo>
                        <a:pt x="108" y="0"/>
                        <a:pt x="68" y="40"/>
                        <a:pt x="68" y="89"/>
                      </a:cubicBezTo>
                      <a:cubicBezTo>
                        <a:pt x="68" y="127"/>
                        <a:pt x="93" y="160"/>
                        <a:pt x="127" y="172"/>
                      </a:cubicBezTo>
                      <a:cubicBezTo>
                        <a:pt x="103" y="172"/>
                        <a:pt x="103" y="172"/>
                        <a:pt x="103" y="172"/>
                      </a:cubicBezTo>
                      <a:cubicBezTo>
                        <a:pt x="55" y="172"/>
                        <a:pt x="26" y="291"/>
                        <a:pt x="16" y="320"/>
                      </a:cubicBezTo>
                      <a:cubicBezTo>
                        <a:pt x="0" y="363"/>
                        <a:pt x="28" y="386"/>
                        <a:pt x="28" y="386"/>
                      </a:cubicBezTo>
                      <a:cubicBezTo>
                        <a:pt x="132" y="386"/>
                        <a:pt x="132" y="386"/>
                        <a:pt x="132" y="386"/>
                      </a:cubicBezTo>
                      <a:cubicBezTo>
                        <a:pt x="154" y="203"/>
                        <a:pt x="154" y="203"/>
                        <a:pt x="154" y="203"/>
                      </a:cubicBezTo>
                      <a:cubicBezTo>
                        <a:pt x="132" y="180"/>
                        <a:pt x="132" y="180"/>
                        <a:pt x="132" y="180"/>
                      </a:cubicBezTo>
                      <a:cubicBezTo>
                        <a:pt x="182" y="180"/>
                        <a:pt x="182" y="180"/>
                        <a:pt x="182" y="180"/>
                      </a:cubicBezTo>
                      <a:cubicBezTo>
                        <a:pt x="160" y="203"/>
                        <a:pt x="160" y="203"/>
                        <a:pt x="160" y="203"/>
                      </a:cubicBezTo>
                      <a:cubicBezTo>
                        <a:pt x="182" y="386"/>
                        <a:pt x="182" y="386"/>
                        <a:pt x="182" y="386"/>
                      </a:cubicBezTo>
                      <a:cubicBezTo>
                        <a:pt x="286" y="386"/>
                        <a:pt x="286" y="386"/>
                        <a:pt x="286" y="386"/>
                      </a:cubicBezTo>
                      <a:cubicBezTo>
                        <a:pt x="286" y="386"/>
                        <a:pt x="314" y="363"/>
                        <a:pt x="298" y="320"/>
                      </a:cubicBezTo>
                      <a:cubicBezTo>
                        <a:pt x="288" y="291"/>
                        <a:pt x="259" y="172"/>
                        <a:pt x="211" y="172"/>
                      </a:cubicBezTo>
                      <a:cubicBezTo>
                        <a:pt x="187" y="172"/>
                        <a:pt x="187" y="172"/>
                        <a:pt x="187" y="172"/>
                      </a:cubicBezTo>
                      <a:cubicBezTo>
                        <a:pt x="221" y="160"/>
                        <a:pt x="246" y="127"/>
                        <a:pt x="246" y="89"/>
                      </a:cubicBezTo>
                      <a:cubicBezTo>
                        <a:pt x="246" y="40"/>
                        <a:pt x="206" y="0"/>
                        <a:pt x="157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48">
                  <a:extLst>
                    <a:ext uri="{FF2B5EF4-FFF2-40B4-BE49-F238E27FC236}">
                      <a16:creationId xmlns:a16="http://schemas.microsoft.com/office/drawing/2014/main" id="{4526B092-80B5-8F50-F2BE-1CCA1F4D43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1871"/>
                  <a:ext cx="475" cy="750"/>
                </a:xfrm>
                <a:custGeom>
                  <a:avLst/>
                  <a:gdLst>
                    <a:gd name="T0" fmla="*/ 128 w 200"/>
                    <a:gd name="T1" fmla="*/ 0 h 315"/>
                    <a:gd name="T2" fmla="*/ 55 w 200"/>
                    <a:gd name="T3" fmla="*/ 73 h 315"/>
                    <a:gd name="T4" fmla="*/ 103 w 200"/>
                    <a:gd name="T5" fmla="*/ 141 h 315"/>
                    <a:gd name="T6" fmla="*/ 84 w 200"/>
                    <a:gd name="T7" fmla="*/ 141 h 315"/>
                    <a:gd name="T8" fmla="*/ 13 w 200"/>
                    <a:gd name="T9" fmla="*/ 261 h 315"/>
                    <a:gd name="T10" fmla="*/ 23 w 200"/>
                    <a:gd name="T11" fmla="*/ 315 h 315"/>
                    <a:gd name="T12" fmla="*/ 108 w 200"/>
                    <a:gd name="T13" fmla="*/ 315 h 315"/>
                    <a:gd name="T14" fmla="*/ 126 w 200"/>
                    <a:gd name="T15" fmla="*/ 166 h 315"/>
                    <a:gd name="T16" fmla="*/ 107 w 200"/>
                    <a:gd name="T17" fmla="*/ 147 h 315"/>
                    <a:gd name="T18" fmla="*/ 149 w 200"/>
                    <a:gd name="T19" fmla="*/ 147 h 315"/>
                    <a:gd name="T20" fmla="*/ 130 w 200"/>
                    <a:gd name="T21" fmla="*/ 166 h 315"/>
                    <a:gd name="T22" fmla="*/ 148 w 200"/>
                    <a:gd name="T23" fmla="*/ 315 h 315"/>
                    <a:gd name="T24" fmla="*/ 168 w 200"/>
                    <a:gd name="T25" fmla="*/ 315 h 315"/>
                    <a:gd name="T26" fmla="*/ 161 w 200"/>
                    <a:gd name="T27" fmla="*/ 245 h 315"/>
                    <a:gd name="T28" fmla="*/ 166 w 200"/>
                    <a:gd name="T29" fmla="*/ 228 h 315"/>
                    <a:gd name="T30" fmla="*/ 194 w 200"/>
                    <a:gd name="T31" fmla="*/ 152 h 315"/>
                    <a:gd name="T32" fmla="*/ 172 w 200"/>
                    <a:gd name="T33" fmla="*/ 141 h 315"/>
                    <a:gd name="T34" fmla="*/ 152 w 200"/>
                    <a:gd name="T35" fmla="*/ 141 h 315"/>
                    <a:gd name="T36" fmla="*/ 200 w 200"/>
                    <a:gd name="T37" fmla="*/ 73 h 315"/>
                    <a:gd name="T38" fmla="*/ 128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128" y="0"/>
                      </a:moveTo>
                      <a:cubicBezTo>
                        <a:pt x="88" y="0"/>
                        <a:pt x="55" y="33"/>
                        <a:pt x="55" y="73"/>
                      </a:cubicBezTo>
                      <a:cubicBezTo>
                        <a:pt x="55" y="104"/>
                        <a:pt x="76" y="131"/>
                        <a:pt x="103" y="141"/>
                      </a:cubicBezTo>
                      <a:cubicBezTo>
                        <a:pt x="84" y="141"/>
                        <a:pt x="84" y="141"/>
                        <a:pt x="84" y="141"/>
                      </a:cubicBezTo>
                      <a:cubicBezTo>
                        <a:pt x="45" y="141"/>
                        <a:pt x="21" y="238"/>
                        <a:pt x="13" y="261"/>
                      </a:cubicBezTo>
                      <a:cubicBezTo>
                        <a:pt x="0" y="296"/>
                        <a:pt x="23" y="315"/>
                        <a:pt x="23" y="315"/>
                      </a:cubicBezTo>
                      <a:cubicBezTo>
                        <a:pt x="108" y="315"/>
                        <a:pt x="108" y="315"/>
                        <a:pt x="108" y="315"/>
                      </a:cubicBezTo>
                      <a:cubicBezTo>
                        <a:pt x="126" y="166"/>
                        <a:pt x="126" y="166"/>
                        <a:pt x="126" y="166"/>
                      </a:cubicBezTo>
                      <a:cubicBezTo>
                        <a:pt x="107" y="147"/>
                        <a:pt x="107" y="147"/>
                        <a:pt x="107" y="147"/>
                      </a:cubicBezTo>
                      <a:cubicBezTo>
                        <a:pt x="149" y="147"/>
                        <a:pt x="149" y="147"/>
                        <a:pt x="149" y="147"/>
                      </a:cubicBezTo>
                      <a:cubicBezTo>
                        <a:pt x="130" y="166"/>
                        <a:pt x="130" y="166"/>
                        <a:pt x="130" y="166"/>
                      </a:cubicBezTo>
                      <a:cubicBezTo>
                        <a:pt x="148" y="315"/>
                        <a:pt x="148" y="315"/>
                        <a:pt x="148" y="315"/>
                      </a:cubicBezTo>
                      <a:cubicBezTo>
                        <a:pt x="168" y="315"/>
                        <a:pt x="168" y="315"/>
                        <a:pt x="168" y="315"/>
                      </a:cubicBezTo>
                      <a:cubicBezTo>
                        <a:pt x="160" y="303"/>
                        <a:pt x="149" y="279"/>
                        <a:pt x="161" y="245"/>
                      </a:cubicBezTo>
                      <a:cubicBezTo>
                        <a:pt x="162" y="241"/>
                        <a:pt x="164" y="235"/>
                        <a:pt x="166" y="228"/>
                      </a:cubicBezTo>
                      <a:cubicBezTo>
                        <a:pt x="173" y="207"/>
                        <a:pt x="182" y="178"/>
                        <a:pt x="194" y="152"/>
                      </a:cubicBezTo>
                      <a:cubicBezTo>
                        <a:pt x="188" y="145"/>
                        <a:pt x="180" y="141"/>
                        <a:pt x="172" y="141"/>
                      </a:cubicBezTo>
                      <a:cubicBezTo>
                        <a:pt x="152" y="141"/>
                        <a:pt x="152" y="141"/>
                        <a:pt x="152" y="141"/>
                      </a:cubicBezTo>
                      <a:cubicBezTo>
                        <a:pt x="180" y="131"/>
                        <a:pt x="200" y="104"/>
                        <a:pt x="200" y="73"/>
                      </a:cubicBezTo>
                      <a:cubicBezTo>
                        <a:pt x="200" y="33"/>
                        <a:pt x="168" y="0"/>
                        <a:pt x="128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49">
                  <a:extLst>
                    <a:ext uri="{FF2B5EF4-FFF2-40B4-BE49-F238E27FC236}">
                      <a16:creationId xmlns:a16="http://schemas.microsoft.com/office/drawing/2014/main" id="{6E54E0CE-3D66-D7DF-9675-9E2D3E695B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0" y="1871"/>
                  <a:ext cx="474" cy="750"/>
                </a:xfrm>
                <a:custGeom>
                  <a:avLst/>
                  <a:gdLst>
                    <a:gd name="T0" fmla="*/ 72 w 200"/>
                    <a:gd name="T1" fmla="*/ 0 h 315"/>
                    <a:gd name="T2" fmla="*/ 0 w 200"/>
                    <a:gd name="T3" fmla="*/ 73 h 315"/>
                    <a:gd name="T4" fmla="*/ 48 w 200"/>
                    <a:gd name="T5" fmla="*/ 141 h 315"/>
                    <a:gd name="T6" fmla="*/ 28 w 200"/>
                    <a:gd name="T7" fmla="*/ 141 h 315"/>
                    <a:gd name="T8" fmla="*/ 6 w 200"/>
                    <a:gd name="T9" fmla="*/ 152 h 315"/>
                    <a:gd name="T10" fmla="*/ 34 w 200"/>
                    <a:gd name="T11" fmla="*/ 228 h 315"/>
                    <a:gd name="T12" fmla="*/ 39 w 200"/>
                    <a:gd name="T13" fmla="*/ 245 h 315"/>
                    <a:gd name="T14" fmla="*/ 32 w 200"/>
                    <a:gd name="T15" fmla="*/ 315 h 315"/>
                    <a:gd name="T16" fmla="*/ 52 w 200"/>
                    <a:gd name="T17" fmla="*/ 315 h 315"/>
                    <a:gd name="T18" fmla="*/ 70 w 200"/>
                    <a:gd name="T19" fmla="*/ 166 h 315"/>
                    <a:gd name="T20" fmla="*/ 52 w 200"/>
                    <a:gd name="T21" fmla="*/ 147 h 315"/>
                    <a:gd name="T22" fmla="*/ 93 w 200"/>
                    <a:gd name="T23" fmla="*/ 147 h 315"/>
                    <a:gd name="T24" fmla="*/ 74 w 200"/>
                    <a:gd name="T25" fmla="*/ 166 h 315"/>
                    <a:gd name="T26" fmla="*/ 92 w 200"/>
                    <a:gd name="T27" fmla="*/ 315 h 315"/>
                    <a:gd name="T28" fmla="*/ 178 w 200"/>
                    <a:gd name="T29" fmla="*/ 315 h 315"/>
                    <a:gd name="T30" fmla="*/ 187 w 200"/>
                    <a:gd name="T31" fmla="*/ 261 h 315"/>
                    <a:gd name="T32" fmla="*/ 116 w 200"/>
                    <a:gd name="T33" fmla="*/ 141 h 315"/>
                    <a:gd name="T34" fmla="*/ 97 w 200"/>
                    <a:gd name="T35" fmla="*/ 141 h 315"/>
                    <a:gd name="T36" fmla="*/ 145 w 200"/>
                    <a:gd name="T37" fmla="*/ 73 h 315"/>
                    <a:gd name="T38" fmla="*/ 72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72" y="0"/>
                      </a:moveTo>
                      <a:cubicBezTo>
                        <a:pt x="32" y="0"/>
                        <a:pt x="0" y="33"/>
                        <a:pt x="0" y="73"/>
                      </a:cubicBezTo>
                      <a:cubicBezTo>
                        <a:pt x="0" y="104"/>
                        <a:pt x="20" y="131"/>
                        <a:pt x="48" y="141"/>
                      </a:cubicBezTo>
                      <a:cubicBezTo>
                        <a:pt x="28" y="141"/>
                        <a:pt x="28" y="141"/>
                        <a:pt x="28" y="141"/>
                      </a:cubicBezTo>
                      <a:cubicBezTo>
                        <a:pt x="20" y="141"/>
                        <a:pt x="13" y="145"/>
                        <a:pt x="6" y="152"/>
                      </a:cubicBezTo>
                      <a:cubicBezTo>
                        <a:pt x="18" y="178"/>
                        <a:pt x="27" y="207"/>
                        <a:pt x="34" y="228"/>
                      </a:cubicBezTo>
                      <a:cubicBezTo>
                        <a:pt x="36" y="235"/>
                        <a:pt x="38" y="241"/>
                        <a:pt x="39" y="245"/>
                      </a:cubicBezTo>
                      <a:cubicBezTo>
                        <a:pt x="52" y="279"/>
                        <a:pt x="40" y="303"/>
                        <a:pt x="32" y="315"/>
                      </a:cubicBezTo>
                      <a:cubicBezTo>
                        <a:pt x="52" y="315"/>
                        <a:pt x="52" y="315"/>
                        <a:pt x="52" y="315"/>
                      </a:cubicBezTo>
                      <a:cubicBezTo>
                        <a:pt x="70" y="166"/>
                        <a:pt x="70" y="166"/>
                        <a:pt x="70" y="166"/>
                      </a:cubicBezTo>
                      <a:cubicBezTo>
                        <a:pt x="52" y="147"/>
                        <a:pt x="52" y="147"/>
                        <a:pt x="52" y="147"/>
                      </a:cubicBezTo>
                      <a:cubicBezTo>
                        <a:pt x="93" y="147"/>
                        <a:pt x="93" y="147"/>
                        <a:pt x="93" y="147"/>
                      </a:cubicBezTo>
                      <a:cubicBezTo>
                        <a:pt x="74" y="166"/>
                        <a:pt x="74" y="166"/>
                        <a:pt x="74" y="166"/>
                      </a:cubicBezTo>
                      <a:cubicBezTo>
                        <a:pt x="92" y="315"/>
                        <a:pt x="92" y="315"/>
                        <a:pt x="92" y="315"/>
                      </a:cubicBezTo>
                      <a:cubicBezTo>
                        <a:pt x="178" y="315"/>
                        <a:pt x="178" y="315"/>
                        <a:pt x="178" y="315"/>
                      </a:cubicBezTo>
                      <a:cubicBezTo>
                        <a:pt x="178" y="315"/>
                        <a:pt x="200" y="296"/>
                        <a:pt x="187" y="261"/>
                      </a:cubicBezTo>
                      <a:cubicBezTo>
                        <a:pt x="179" y="238"/>
                        <a:pt x="156" y="141"/>
                        <a:pt x="116" y="141"/>
                      </a:cubicBezTo>
                      <a:cubicBezTo>
                        <a:pt x="97" y="141"/>
                        <a:pt x="97" y="141"/>
                        <a:pt x="97" y="141"/>
                      </a:cubicBezTo>
                      <a:cubicBezTo>
                        <a:pt x="125" y="131"/>
                        <a:pt x="145" y="104"/>
                        <a:pt x="145" y="73"/>
                      </a:cubicBezTo>
                      <a:cubicBezTo>
                        <a:pt x="145" y="33"/>
                        <a:pt x="112" y="0"/>
                        <a:pt x="72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BAE10E-B5D5-FF82-CAF1-2767368E9C83}"/>
              </a:ext>
            </a:extLst>
          </p:cNvPr>
          <p:cNvGrpSpPr/>
          <p:nvPr/>
        </p:nvGrpSpPr>
        <p:grpSpPr>
          <a:xfrm>
            <a:off x="5319210" y="1115208"/>
            <a:ext cx="2792990" cy="554778"/>
            <a:chOff x="5091189" y="826506"/>
            <a:chExt cx="2891523" cy="554778"/>
          </a:xfrm>
        </p:grpSpPr>
        <p:pic>
          <p:nvPicPr>
            <p:cNvPr id="3" name="圆角矩形 53">
              <a:extLst>
                <a:ext uri="{FF2B5EF4-FFF2-40B4-BE49-F238E27FC236}">
                  <a16:creationId xmlns:a16="http://schemas.microsoft.com/office/drawing/2014/main" id="{B237C9ED-2802-6070-1FD0-D8C87BFDDAD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1189" y="826506"/>
              <a:ext cx="2891523" cy="554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77">
              <a:extLst>
                <a:ext uri="{FF2B5EF4-FFF2-40B4-BE49-F238E27FC236}">
                  <a16:creationId xmlns:a16="http://schemas.microsoft.com/office/drawing/2014/main" id="{5C04D870-80D2-7BEC-445A-7481E7E9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3551" y="937034"/>
              <a:ext cx="24852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dirty="0">
                  <a:solidFill>
                    <a:srgbClr val="00327D"/>
                  </a:solidFill>
                  <a:ea typeface="方正兰亭大黑_GBK" pitchFamily="2" charset="-122"/>
                </a:rPr>
                <a:t>优化改善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3AEAEA-0A33-03B0-D1A9-38170B600727}"/>
              </a:ext>
            </a:extLst>
          </p:cNvPr>
          <p:cNvGrpSpPr/>
          <p:nvPr/>
        </p:nvGrpSpPr>
        <p:grpSpPr>
          <a:xfrm>
            <a:off x="5214397" y="1173452"/>
            <a:ext cx="476131" cy="476303"/>
            <a:chOff x="4360876" y="3993186"/>
            <a:chExt cx="1684779" cy="1685388"/>
          </a:xfrm>
        </p:grpSpPr>
        <p:sp>
          <p:nvSpPr>
            <p:cNvPr id="6" name="泪滴形 5">
              <a:extLst>
                <a:ext uri="{FF2B5EF4-FFF2-40B4-BE49-F238E27FC236}">
                  <a16:creationId xmlns:a16="http://schemas.microsoft.com/office/drawing/2014/main" id="{26D6276E-85E9-3627-D3E1-B0BB4BA1A759}"/>
                </a:ext>
              </a:extLst>
            </p:cNvPr>
            <p:cNvSpPr/>
            <p:nvPr/>
          </p:nvSpPr>
          <p:spPr>
            <a:xfrm>
              <a:off x="4360876" y="3993186"/>
              <a:ext cx="1684779" cy="1685388"/>
            </a:xfrm>
            <a:prstGeom prst="teardrop">
              <a:avLst/>
            </a:prstGeom>
            <a:solidFill>
              <a:srgbClr val="2F5597"/>
            </a:solidFill>
            <a:ln w="31750">
              <a:solidFill>
                <a:srgbClr val="F9F9F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DCF8F95-CEE2-9FF0-2CB9-FC3D3A1A282B}"/>
                </a:ext>
              </a:extLst>
            </p:cNvPr>
            <p:cNvGrpSpPr/>
            <p:nvPr/>
          </p:nvGrpSpPr>
          <p:grpSpPr>
            <a:xfrm>
              <a:off x="4524458" y="4086677"/>
              <a:ext cx="1414523" cy="1415036"/>
              <a:chOff x="3394374" y="2689764"/>
              <a:chExt cx="1061215" cy="1061359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24FBCB61-7197-EFE3-4EFA-1C1269C90544}"/>
                  </a:ext>
                </a:extLst>
              </p:cNvPr>
              <p:cNvGrpSpPr/>
              <p:nvPr/>
            </p:nvGrpSpPr>
            <p:grpSpPr>
              <a:xfrm>
                <a:off x="3394374" y="2689764"/>
                <a:ext cx="1061215" cy="1061359"/>
                <a:chOff x="4926840" y="1732375"/>
                <a:chExt cx="1656097" cy="1656098"/>
              </a:xfrm>
            </p:grpSpPr>
            <p:sp>
              <p:nvSpPr>
                <p:cNvPr id="13" name="任意多边形 201">
                  <a:extLst>
                    <a:ext uri="{FF2B5EF4-FFF2-40B4-BE49-F238E27FC236}">
                      <a16:creationId xmlns:a16="http://schemas.microsoft.com/office/drawing/2014/main" id="{B4DFC020-3EF8-1A17-10D5-89888C539174}"/>
                    </a:ext>
                  </a:extLst>
                </p:cNvPr>
                <p:cNvSpPr/>
                <p:nvPr/>
              </p:nvSpPr>
              <p:spPr>
                <a:xfrm>
                  <a:off x="4926840" y="1732375"/>
                  <a:ext cx="1656097" cy="1656098"/>
                </a:xfrm>
                <a:custGeom>
                  <a:avLst/>
                  <a:gdLst>
                    <a:gd name="connsiteX0" fmla="*/ 734066 w 1656097"/>
                    <a:gd name="connsiteY0" fmla="*/ 0 h 1656098"/>
                    <a:gd name="connsiteX1" fmla="*/ 922032 w 1656097"/>
                    <a:gd name="connsiteY1" fmla="*/ 0 h 1656098"/>
                    <a:gd name="connsiteX2" fmla="*/ 958682 w 1656097"/>
                    <a:gd name="connsiteY2" fmla="*/ 170987 h 1656098"/>
                    <a:gd name="connsiteX3" fmla="*/ 967537 w 1656097"/>
                    <a:gd name="connsiteY3" fmla="*/ 172338 h 1656098"/>
                    <a:gd name="connsiteX4" fmla="*/ 1042604 w 1656097"/>
                    <a:gd name="connsiteY4" fmla="*/ 194634 h 1656098"/>
                    <a:gd name="connsiteX5" fmla="*/ 1160682 w 1656097"/>
                    <a:gd name="connsiteY5" fmla="*/ 63947 h 1656098"/>
                    <a:gd name="connsiteX6" fmla="*/ 1323465 w 1656097"/>
                    <a:gd name="connsiteY6" fmla="*/ 157929 h 1656098"/>
                    <a:gd name="connsiteX7" fmla="*/ 1271151 w 1656097"/>
                    <a:gd name="connsiteY7" fmla="*/ 319877 h 1656098"/>
                    <a:gd name="connsiteX8" fmla="*/ 1280994 w 1656097"/>
                    <a:gd name="connsiteY8" fmla="*/ 327054 h 1656098"/>
                    <a:gd name="connsiteX9" fmla="*/ 1333335 w 1656097"/>
                    <a:gd name="connsiteY9" fmla="*/ 377405 h 1656098"/>
                    <a:gd name="connsiteX10" fmla="*/ 1338950 w 1656097"/>
                    <a:gd name="connsiteY10" fmla="*/ 384065 h 1656098"/>
                    <a:gd name="connsiteX11" fmla="*/ 1498169 w 1656097"/>
                    <a:gd name="connsiteY11" fmla="*/ 332634 h 1656098"/>
                    <a:gd name="connsiteX12" fmla="*/ 1592152 w 1656097"/>
                    <a:gd name="connsiteY12" fmla="*/ 495417 h 1656098"/>
                    <a:gd name="connsiteX13" fmla="*/ 1473528 w 1656097"/>
                    <a:gd name="connsiteY13" fmla="*/ 602595 h 1656098"/>
                    <a:gd name="connsiteX14" fmla="*/ 1483127 w 1656097"/>
                    <a:gd name="connsiteY14" fmla="*/ 626411 h 1656098"/>
                    <a:gd name="connsiteX15" fmla="*/ 1501984 w 1656097"/>
                    <a:gd name="connsiteY15" fmla="*/ 701032 h 1656098"/>
                    <a:gd name="connsiteX16" fmla="*/ 1656097 w 1656097"/>
                    <a:gd name="connsiteY16" fmla="*/ 734067 h 1656098"/>
                    <a:gd name="connsiteX17" fmla="*/ 1656097 w 1656097"/>
                    <a:gd name="connsiteY17" fmla="*/ 922032 h 1656098"/>
                    <a:gd name="connsiteX18" fmla="*/ 1511749 w 1656097"/>
                    <a:gd name="connsiteY18" fmla="*/ 952973 h 1656098"/>
                    <a:gd name="connsiteX19" fmla="*/ 1506114 w 1656097"/>
                    <a:gd name="connsiteY19" fmla="*/ 989892 h 1656098"/>
                    <a:gd name="connsiteX20" fmla="*/ 1491538 w 1656097"/>
                    <a:gd name="connsiteY20" fmla="*/ 1048074 h 1656098"/>
                    <a:gd name="connsiteX21" fmla="*/ 1485827 w 1656097"/>
                    <a:gd name="connsiteY21" fmla="*/ 1064617 h 1656098"/>
                    <a:gd name="connsiteX22" fmla="*/ 1592152 w 1656097"/>
                    <a:gd name="connsiteY22" fmla="*/ 1160683 h 1656098"/>
                    <a:gd name="connsiteX23" fmla="*/ 1498169 w 1656097"/>
                    <a:gd name="connsiteY23" fmla="*/ 1323465 h 1656098"/>
                    <a:gd name="connsiteX24" fmla="*/ 1367507 w 1656097"/>
                    <a:gd name="connsiteY24" fmla="*/ 1281258 h 1656098"/>
                    <a:gd name="connsiteX25" fmla="*/ 1351398 w 1656097"/>
                    <a:gd name="connsiteY25" fmla="*/ 1303350 h 1656098"/>
                    <a:gd name="connsiteX26" fmla="*/ 1301049 w 1656097"/>
                    <a:gd name="connsiteY26" fmla="*/ 1355691 h 1656098"/>
                    <a:gd name="connsiteX27" fmla="*/ 1282493 w 1656097"/>
                    <a:gd name="connsiteY27" fmla="*/ 1371332 h 1656098"/>
                    <a:gd name="connsiteX28" fmla="*/ 1323465 w 1656097"/>
                    <a:gd name="connsiteY28" fmla="*/ 1498169 h 1656098"/>
                    <a:gd name="connsiteX29" fmla="*/ 1160682 w 1656097"/>
                    <a:gd name="connsiteY29" fmla="*/ 1592152 h 1656098"/>
                    <a:gd name="connsiteX30" fmla="*/ 1074277 w 1656097"/>
                    <a:gd name="connsiteY30" fmla="*/ 1496521 h 1656098"/>
                    <a:gd name="connsiteX31" fmla="*/ 1052042 w 1656097"/>
                    <a:gd name="connsiteY31" fmla="*/ 1505484 h 1656098"/>
                    <a:gd name="connsiteX32" fmla="*/ 948719 w 1656097"/>
                    <a:gd name="connsiteY32" fmla="*/ 1531593 h 1656098"/>
                    <a:gd name="connsiteX33" fmla="*/ 922032 w 1656097"/>
                    <a:gd name="connsiteY33" fmla="*/ 1656098 h 1656098"/>
                    <a:gd name="connsiteX34" fmla="*/ 734066 w 1656097"/>
                    <a:gd name="connsiteY34" fmla="*/ 1656098 h 1656098"/>
                    <a:gd name="connsiteX35" fmla="*/ 707323 w 1656097"/>
                    <a:gd name="connsiteY35" fmla="*/ 1531333 h 1656098"/>
                    <a:gd name="connsiteX36" fmla="*/ 688561 w 1656097"/>
                    <a:gd name="connsiteY36" fmla="*/ 1528470 h 1656098"/>
                    <a:gd name="connsiteX37" fmla="*/ 581645 w 1656097"/>
                    <a:gd name="connsiteY37" fmla="*/ 1496716 h 1656098"/>
                    <a:gd name="connsiteX38" fmla="*/ 495416 w 1656097"/>
                    <a:gd name="connsiteY38" fmla="*/ 1592152 h 1656098"/>
                    <a:gd name="connsiteX39" fmla="*/ 332634 w 1656097"/>
                    <a:gd name="connsiteY39" fmla="*/ 1498169 h 1656098"/>
                    <a:gd name="connsiteX40" fmla="*/ 373389 w 1656097"/>
                    <a:gd name="connsiteY40" fmla="*/ 1372000 h 1656098"/>
                    <a:gd name="connsiteX41" fmla="*/ 293970 w 1656097"/>
                    <a:gd name="connsiteY41" fmla="*/ 1290661 h 1656098"/>
                    <a:gd name="connsiteX42" fmla="*/ 287662 w 1656097"/>
                    <a:gd name="connsiteY42" fmla="*/ 1281558 h 1656098"/>
                    <a:gd name="connsiteX43" fmla="*/ 157930 w 1656097"/>
                    <a:gd name="connsiteY43" fmla="*/ 1323465 h 1656098"/>
                    <a:gd name="connsiteX44" fmla="*/ 63947 w 1656097"/>
                    <a:gd name="connsiteY44" fmla="*/ 1160683 h 1656098"/>
                    <a:gd name="connsiteX45" fmla="*/ 170348 w 1656097"/>
                    <a:gd name="connsiteY45" fmla="*/ 1064548 h 1656098"/>
                    <a:gd name="connsiteX46" fmla="*/ 159896 w 1656097"/>
                    <a:gd name="connsiteY46" fmla="*/ 1031651 h 1656098"/>
                    <a:gd name="connsiteX47" fmla="*/ 144063 w 1656097"/>
                    <a:gd name="connsiteY47" fmla="*/ 952912 h 1656098"/>
                    <a:gd name="connsiteX48" fmla="*/ 0 w 1656097"/>
                    <a:gd name="connsiteY48" fmla="*/ 922032 h 1656098"/>
                    <a:gd name="connsiteX49" fmla="*/ 0 w 1656097"/>
                    <a:gd name="connsiteY49" fmla="*/ 734067 h 1656098"/>
                    <a:gd name="connsiteX50" fmla="*/ 152682 w 1656097"/>
                    <a:gd name="connsiteY50" fmla="*/ 701339 h 1656098"/>
                    <a:gd name="connsiteX51" fmla="*/ 159896 w 1656097"/>
                    <a:gd name="connsiteY51" fmla="*/ 669158 h 1656098"/>
                    <a:gd name="connsiteX52" fmla="*/ 182923 w 1656097"/>
                    <a:gd name="connsiteY52" fmla="*/ 602913 h 1656098"/>
                    <a:gd name="connsiteX53" fmla="*/ 63947 w 1656097"/>
                    <a:gd name="connsiteY53" fmla="*/ 495417 h 1656098"/>
                    <a:gd name="connsiteX54" fmla="*/ 157930 w 1656097"/>
                    <a:gd name="connsiteY54" fmla="*/ 332634 h 1656098"/>
                    <a:gd name="connsiteX55" fmla="*/ 318389 w 1656097"/>
                    <a:gd name="connsiteY55" fmla="*/ 384465 h 1656098"/>
                    <a:gd name="connsiteX56" fmla="*/ 353537 w 1656097"/>
                    <a:gd name="connsiteY56" fmla="*/ 346539 h 1656098"/>
                    <a:gd name="connsiteX57" fmla="*/ 385166 w 1656097"/>
                    <a:gd name="connsiteY57" fmla="*/ 320558 h 1656098"/>
                    <a:gd name="connsiteX58" fmla="*/ 332634 w 1656097"/>
                    <a:gd name="connsiteY58" fmla="*/ 157929 h 1656098"/>
                    <a:gd name="connsiteX59" fmla="*/ 495416 w 1656097"/>
                    <a:gd name="connsiteY59" fmla="*/ 63947 h 1656098"/>
                    <a:gd name="connsiteX60" fmla="*/ 612546 w 1656097"/>
                    <a:gd name="connsiteY60" fmla="*/ 193585 h 1656098"/>
                    <a:gd name="connsiteX61" fmla="*/ 688561 w 1656097"/>
                    <a:gd name="connsiteY61" fmla="*/ 172338 h 1656098"/>
                    <a:gd name="connsiteX62" fmla="*/ 697415 w 1656097"/>
                    <a:gd name="connsiteY62" fmla="*/ 170987 h 165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1656097" h="1656098">
                      <a:moveTo>
                        <a:pt x="734066" y="0"/>
                      </a:moveTo>
                      <a:lnTo>
                        <a:pt x="922032" y="0"/>
                      </a:lnTo>
                      <a:lnTo>
                        <a:pt x="958682" y="170987"/>
                      </a:lnTo>
                      <a:lnTo>
                        <a:pt x="967537" y="172338"/>
                      </a:lnTo>
                      <a:lnTo>
                        <a:pt x="1042604" y="194634"/>
                      </a:lnTo>
                      <a:lnTo>
                        <a:pt x="1160682" y="63947"/>
                      </a:lnTo>
                      <a:lnTo>
                        <a:pt x="1323465" y="157929"/>
                      </a:lnTo>
                      <a:lnTo>
                        <a:pt x="1271151" y="319877"/>
                      </a:lnTo>
                      <a:lnTo>
                        <a:pt x="1280994" y="327054"/>
                      </a:lnTo>
                      <a:cubicBezTo>
                        <a:pt x="1299308" y="342918"/>
                        <a:pt x="1316780" y="359726"/>
                        <a:pt x="1333335" y="377405"/>
                      </a:cubicBezTo>
                      <a:lnTo>
                        <a:pt x="1338950" y="384065"/>
                      </a:lnTo>
                      <a:lnTo>
                        <a:pt x="1498169" y="332634"/>
                      </a:lnTo>
                      <a:lnTo>
                        <a:pt x="1592152" y="495417"/>
                      </a:lnTo>
                      <a:lnTo>
                        <a:pt x="1473528" y="602595"/>
                      </a:lnTo>
                      <a:lnTo>
                        <a:pt x="1483127" y="626411"/>
                      </a:lnTo>
                      <a:lnTo>
                        <a:pt x="1501984" y="701032"/>
                      </a:lnTo>
                      <a:lnTo>
                        <a:pt x="1656097" y="734067"/>
                      </a:lnTo>
                      <a:lnTo>
                        <a:pt x="1656097" y="922032"/>
                      </a:lnTo>
                      <a:lnTo>
                        <a:pt x="1511749" y="952973"/>
                      </a:lnTo>
                      <a:lnTo>
                        <a:pt x="1506114" y="989892"/>
                      </a:lnTo>
                      <a:cubicBezTo>
                        <a:pt x="1502081" y="1009604"/>
                        <a:pt x="1497209" y="1029011"/>
                        <a:pt x="1491538" y="1048074"/>
                      </a:cubicBezTo>
                      <a:lnTo>
                        <a:pt x="1485827" y="1064617"/>
                      </a:lnTo>
                      <a:lnTo>
                        <a:pt x="1592152" y="1160683"/>
                      </a:lnTo>
                      <a:lnTo>
                        <a:pt x="1498169" y="1323465"/>
                      </a:lnTo>
                      <a:lnTo>
                        <a:pt x="1367507" y="1281258"/>
                      </a:lnTo>
                      <a:lnTo>
                        <a:pt x="1351398" y="1303350"/>
                      </a:lnTo>
                      <a:cubicBezTo>
                        <a:pt x="1335535" y="1321664"/>
                        <a:pt x="1318727" y="1339136"/>
                        <a:pt x="1301049" y="1355691"/>
                      </a:cubicBezTo>
                      <a:lnTo>
                        <a:pt x="1282493" y="1371332"/>
                      </a:lnTo>
                      <a:lnTo>
                        <a:pt x="1323465" y="1498169"/>
                      </a:lnTo>
                      <a:lnTo>
                        <a:pt x="1160682" y="1592152"/>
                      </a:lnTo>
                      <a:lnTo>
                        <a:pt x="1074277" y="1496521"/>
                      </a:lnTo>
                      <a:lnTo>
                        <a:pt x="1052042" y="1505484"/>
                      </a:lnTo>
                      <a:lnTo>
                        <a:pt x="948719" y="1531593"/>
                      </a:lnTo>
                      <a:lnTo>
                        <a:pt x="922032" y="1656098"/>
                      </a:lnTo>
                      <a:lnTo>
                        <a:pt x="734066" y="1656098"/>
                      </a:lnTo>
                      <a:lnTo>
                        <a:pt x="707323" y="1531333"/>
                      </a:lnTo>
                      <a:lnTo>
                        <a:pt x="688561" y="1528470"/>
                      </a:lnTo>
                      <a:lnTo>
                        <a:pt x="581645" y="1496716"/>
                      </a:lnTo>
                      <a:lnTo>
                        <a:pt x="495416" y="1592152"/>
                      </a:lnTo>
                      <a:lnTo>
                        <a:pt x="332634" y="1498169"/>
                      </a:lnTo>
                      <a:lnTo>
                        <a:pt x="373389" y="1372000"/>
                      </a:lnTo>
                      <a:lnTo>
                        <a:pt x="293970" y="1290661"/>
                      </a:lnTo>
                      <a:lnTo>
                        <a:pt x="287662" y="1281558"/>
                      </a:lnTo>
                      <a:lnTo>
                        <a:pt x="157930" y="1323465"/>
                      </a:lnTo>
                      <a:lnTo>
                        <a:pt x="63947" y="1160683"/>
                      </a:lnTo>
                      <a:lnTo>
                        <a:pt x="170348" y="1064548"/>
                      </a:lnTo>
                      <a:lnTo>
                        <a:pt x="159896" y="1031651"/>
                      </a:lnTo>
                      <a:lnTo>
                        <a:pt x="144063" y="952912"/>
                      </a:lnTo>
                      <a:lnTo>
                        <a:pt x="0" y="922032"/>
                      </a:lnTo>
                      <a:lnTo>
                        <a:pt x="0" y="734067"/>
                      </a:lnTo>
                      <a:lnTo>
                        <a:pt x="152682" y="701339"/>
                      </a:lnTo>
                      <a:lnTo>
                        <a:pt x="159896" y="669158"/>
                      </a:lnTo>
                      <a:lnTo>
                        <a:pt x="182923" y="602913"/>
                      </a:lnTo>
                      <a:lnTo>
                        <a:pt x="63947" y="495417"/>
                      </a:lnTo>
                      <a:lnTo>
                        <a:pt x="157930" y="332634"/>
                      </a:lnTo>
                      <a:lnTo>
                        <a:pt x="318389" y="384465"/>
                      </a:lnTo>
                      <a:lnTo>
                        <a:pt x="353537" y="346539"/>
                      </a:lnTo>
                      <a:lnTo>
                        <a:pt x="385166" y="320558"/>
                      </a:lnTo>
                      <a:lnTo>
                        <a:pt x="332634" y="157929"/>
                      </a:lnTo>
                      <a:lnTo>
                        <a:pt x="495416" y="63947"/>
                      </a:lnTo>
                      <a:lnTo>
                        <a:pt x="612546" y="193585"/>
                      </a:lnTo>
                      <a:lnTo>
                        <a:pt x="688561" y="172338"/>
                      </a:lnTo>
                      <a:lnTo>
                        <a:pt x="697415" y="170987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rgbClr val="E2E2E2"/>
                    </a:gs>
                  </a:gsLst>
                  <a:lin ang="2700000" scaled="1"/>
                </a:gradFill>
                <a:ln>
                  <a:noFill/>
                </a:ln>
                <a:effectLst>
                  <a:outerShdw blurRad="190500" dist="889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53781EA0-17B3-7801-54FC-0CBB8141F223}"/>
                    </a:ext>
                  </a:extLst>
                </p:cNvPr>
                <p:cNvSpPr/>
                <p:nvPr/>
              </p:nvSpPr>
              <p:spPr>
                <a:xfrm>
                  <a:off x="5189938" y="1995474"/>
                  <a:ext cx="1129900" cy="1129900"/>
                </a:xfrm>
                <a:prstGeom prst="ellipse">
                  <a:avLst/>
                </a:prstGeom>
                <a:solidFill>
                  <a:srgbClr val="2F5597"/>
                </a:solidFill>
                <a:ln w="22225">
                  <a:gradFill flip="none" rotWithShape="1">
                    <a:gsLst>
                      <a:gs pos="0">
                        <a:srgbClr val="CDCDCD"/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innerShdw blurRad="88900" dist="38100" dir="13500000">
                    <a:prstClr val="black">
                      <a:alpha val="4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487312CF-6E22-D655-F267-888C97C3617E}"/>
                    </a:ext>
                  </a:extLst>
                </p:cNvPr>
                <p:cNvSpPr/>
                <p:nvPr/>
              </p:nvSpPr>
              <p:spPr>
                <a:xfrm>
                  <a:off x="5266822" y="2076686"/>
                  <a:ext cx="976134" cy="976135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 flip="none" rotWithShape="1">
                    <a:gsLst>
                      <a:gs pos="100000">
                        <a:srgbClr val="CDCDCD"/>
                      </a:gs>
                      <a:gs pos="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>
                  <a:outerShdw blurRad="889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" name="Group 46">
                <a:extLst>
                  <a:ext uri="{FF2B5EF4-FFF2-40B4-BE49-F238E27FC236}">
                    <a16:creationId xmlns:a16="http://schemas.microsoft.com/office/drawing/2014/main" id="{EC445E07-E6C4-E30C-36F3-746AFBE2ED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703465" y="3092811"/>
                <a:ext cx="443033" cy="274322"/>
                <a:chOff x="3098" y="1701"/>
                <a:chExt cx="1486" cy="920"/>
              </a:xfrm>
              <a:solidFill>
                <a:srgbClr val="663A77"/>
              </a:solidFill>
            </p:grpSpPr>
            <p:sp>
              <p:nvSpPr>
                <p:cNvPr id="10" name="Freeform 47">
                  <a:extLst>
                    <a:ext uri="{FF2B5EF4-FFF2-40B4-BE49-F238E27FC236}">
                      <a16:creationId xmlns:a16="http://schemas.microsoft.com/office/drawing/2014/main" id="{05D2345A-2A81-CDE2-78F2-6A7A3A73E6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1701"/>
                  <a:ext cx="746" cy="920"/>
                </a:xfrm>
                <a:custGeom>
                  <a:avLst/>
                  <a:gdLst>
                    <a:gd name="T0" fmla="*/ 157 w 314"/>
                    <a:gd name="T1" fmla="*/ 0 h 386"/>
                    <a:gd name="T2" fmla="*/ 68 w 314"/>
                    <a:gd name="T3" fmla="*/ 89 h 386"/>
                    <a:gd name="T4" fmla="*/ 127 w 314"/>
                    <a:gd name="T5" fmla="*/ 172 h 386"/>
                    <a:gd name="T6" fmla="*/ 103 w 314"/>
                    <a:gd name="T7" fmla="*/ 172 h 386"/>
                    <a:gd name="T8" fmla="*/ 16 w 314"/>
                    <a:gd name="T9" fmla="*/ 320 h 386"/>
                    <a:gd name="T10" fmla="*/ 28 w 314"/>
                    <a:gd name="T11" fmla="*/ 386 h 386"/>
                    <a:gd name="T12" fmla="*/ 132 w 314"/>
                    <a:gd name="T13" fmla="*/ 386 h 386"/>
                    <a:gd name="T14" fmla="*/ 154 w 314"/>
                    <a:gd name="T15" fmla="*/ 203 h 386"/>
                    <a:gd name="T16" fmla="*/ 132 w 314"/>
                    <a:gd name="T17" fmla="*/ 180 h 386"/>
                    <a:gd name="T18" fmla="*/ 182 w 314"/>
                    <a:gd name="T19" fmla="*/ 180 h 386"/>
                    <a:gd name="T20" fmla="*/ 160 w 314"/>
                    <a:gd name="T21" fmla="*/ 203 h 386"/>
                    <a:gd name="T22" fmla="*/ 182 w 314"/>
                    <a:gd name="T23" fmla="*/ 386 h 386"/>
                    <a:gd name="T24" fmla="*/ 286 w 314"/>
                    <a:gd name="T25" fmla="*/ 386 h 386"/>
                    <a:gd name="T26" fmla="*/ 298 w 314"/>
                    <a:gd name="T27" fmla="*/ 320 h 386"/>
                    <a:gd name="T28" fmla="*/ 211 w 314"/>
                    <a:gd name="T29" fmla="*/ 172 h 386"/>
                    <a:gd name="T30" fmla="*/ 187 w 314"/>
                    <a:gd name="T31" fmla="*/ 172 h 386"/>
                    <a:gd name="T32" fmla="*/ 246 w 314"/>
                    <a:gd name="T33" fmla="*/ 89 h 386"/>
                    <a:gd name="T34" fmla="*/ 157 w 314"/>
                    <a:gd name="T35" fmla="*/ 0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14" h="386">
                      <a:moveTo>
                        <a:pt x="157" y="0"/>
                      </a:moveTo>
                      <a:cubicBezTo>
                        <a:pt x="108" y="0"/>
                        <a:pt x="68" y="40"/>
                        <a:pt x="68" y="89"/>
                      </a:cubicBezTo>
                      <a:cubicBezTo>
                        <a:pt x="68" y="127"/>
                        <a:pt x="93" y="160"/>
                        <a:pt x="127" y="172"/>
                      </a:cubicBezTo>
                      <a:cubicBezTo>
                        <a:pt x="103" y="172"/>
                        <a:pt x="103" y="172"/>
                        <a:pt x="103" y="172"/>
                      </a:cubicBezTo>
                      <a:cubicBezTo>
                        <a:pt x="55" y="172"/>
                        <a:pt x="26" y="291"/>
                        <a:pt x="16" y="320"/>
                      </a:cubicBezTo>
                      <a:cubicBezTo>
                        <a:pt x="0" y="363"/>
                        <a:pt x="28" y="386"/>
                        <a:pt x="28" y="386"/>
                      </a:cubicBezTo>
                      <a:cubicBezTo>
                        <a:pt x="132" y="386"/>
                        <a:pt x="132" y="386"/>
                        <a:pt x="132" y="386"/>
                      </a:cubicBezTo>
                      <a:cubicBezTo>
                        <a:pt x="154" y="203"/>
                        <a:pt x="154" y="203"/>
                        <a:pt x="154" y="203"/>
                      </a:cubicBezTo>
                      <a:cubicBezTo>
                        <a:pt x="132" y="180"/>
                        <a:pt x="132" y="180"/>
                        <a:pt x="132" y="180"/>
                      </a:cubicBezTo>
                      <a:cubicBezTo>
                        <a:pt x="182" y="180"/>
                        <a:pt x="182" y="180"/>
                        <a:pt x="182" y="180"/>
                      </a:cubicBezTo>
                      <a:cubicBezTo>
                        <a:pt x="160" y="203"/>
                        <a:pt x="160" y="203"/>
                        <a:pt x="160" y="203"/>
                      </a:cubicBezTo>
                      <a:cubicBezTo>
                        <a:pt x="182" y="386"/>
                        <a:pt x="182" y="386"/>
                        <a:pt x="182" y="386"/>
                      </a:cubicBezTo>
                      <a:cubicBezTo>
                        <a:pt x="286" y="386"/>
                        <a:pt x="286" y="386"/>
                        <a:pt x="286" y="386"/>
                      </a:cubicBezTo>
                      <a:cubicBezTo>
                        <a:pt x="286" y="386"/>
                        <a:pt x="314" y="363"/>
                        <a:pt x="298" y="320"/>
                      </a:cubicBezTo>
                      <a:cubicBezTo>
                        <a:pt x="288" y="291"/>
                        <a:pt x="259" y="172"/>
                        <a:pt x="211" y="172"/>
                      </a:cubicBezTo>
                      <a:cubicBezTo>
                        <a:pt x="187" y="172"/>
                        <a:pt x="187" y="172"/>
                        <a:pt x="187" y="172"/>
                      </a:cubicBezTo>
                      <a:cubicBezTo>
                        <a:pt x="221" y="160"/>
                        <a:pt x="246" y="127"/>
                        <a:pt x="246" y="89"/>
                      </a:cubicBezTo>
                      <a:cubicBezTo>
                        <a:pt x="246" y="40"/>
                        <a:pt x="206" y="0"/>
                        <a:pt x="157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" name="Freeform 48">
                  <a:extLst>
                    <a:ext uri="{FF2B5EF4-FFF2-40B4-BE49-F238E27FC236}">
                      <a16:creationId xmlns:a16="http://schemas.microsoft.com/office/drawing/2014/main" id="{9BC341EC-1B5D-E8A5-FC50-9E1A4FACED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1871"/>
                  <a:ext cx="475" cy="750"/>
                </a:xfrm>
                <a:custGeom>
                  <a:avLst/>
                  <a:gdLst>
                    <a:gd name="T0" fmla="*/ 128 w 200"/>
                    <a:gd name="T1" fmla="*/ 0 h 315"/>
                    <a:gd name="T2" fmla="*/ 55 w 200"/>
                    <a:gd name="T3" fmla="*/ 73 h 315"/>
                    <a:gd name="T4" fmla="*/ 103 w 200"/>
                    <a:gd name="T5" fmla="*/ 141 h 315"/>
                    <a:gd name="T6" fmla="*/ 84 w 200"/>
                    <a:gd name="T7" fmla="*/ 141 h 315"/>
                    <a:gd name="T8" fmla="*/ 13 w 200"/>
                    <a:gd name="T9" fmla="*/ 261 h 315"/>
                    <a:gd name="T10" fmla="*/ 23 w 200"/>
                    <a:gd name="T11" fmla="*/ 315 h 315"/>
                    <a:gd name="T12" fmla="*/ 108 w 200"/>
                    <a:gd name="T13" fmla="*/ 315 h 315"/>
                    <a:gd name="T14" fmla="*/ 126 w 200"/>
                    <a:gd name="T15" fmla="*/ 166 h 315"/>
                    <a:gd name="T16" fmla="*/ 107 w 200"/>
                    <a:gd name="T17" fmla="*/ 147 h 315"/>
                    <a:gd name="T18" fmla="*/ 149 w 200"/>
                    <a:gd name="T19" fmla="*/ 147 h 315"/>
                    <a:gd name="T20" fmla="*/ 130 w 200"/>
                    <a:gd name="T21" fmla="*/ 166 h 315"/>
                    <a:gd name="T22" fmla="*/ 148 w 200"/>
                    <a:gd name="T23" fmla="*/ 315 h 315"/>
                    <a:gd name="T24" fmla="*/ 168 w 200"/>
                    <a:gd name="T25" fmla="*/ 315 h 315"/>
                    <a:gd name="T26" fmla="*/ 161 w 200"/>
                    <a:gd name="T27" fmla="*/ 245 h 315"/>
                    <a:gd name="T28" fmla="*/ 166 w 200"/>
                    <a:gd name="T29" fmla="*/ 228 h 315"/>
                    <a:gd name="T30" fmla="*/ 194 w 200"/>
                    <a:gd name="T31" fmla="*/ 152 h 315"/>
                    <a:gd name="T32" fmla="*/ 172 w 200"/>
                    <a:gd name="T33" fmla="*/ 141 h 315"/>
                    <a:gd name="T34" fmla="*/ 152 w 200"/>
                    <a:gd name="T35" fmla="*/ 141 h 315"/>
                    <a:gd name="T36" fmla="*/ 200 w 200"/>
                    <a:gd name="T37" fmla="*/ 73 h 315"/>
                    <a:gd name="T38" fmla="*/ 128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128" y="0"/>
                      </a:moveTo>
                      <a:cubicBezTo>
                        <a:pt x="88" y="0"/>
                        <a:pt x="55" y="33"/>
                        <a:pt x="55" y="73"/>
                      </a:cubicBezTo>
                      <a:cubicBezTo>
                        <a:pt x="55" y="104"/>
                        <a:pt x="76" y="131"/>
                        <a:pt x="103" y="141"/>
                      </a:cubicBezTo>
                      <a:cubicBezTo>
                        <a:pt x="84" y="141"/>
                        <a:pt x="84" y="141"/>
                        <a:pt x="84" y="141"/>
                      </a:cubicBezTo>
                      <a:cubicBezTo>
                        <a:pt x="45" y="141"/>
                        <a:pt x="21" y="238"/>
                        <a:pt x="13" y="261"/>
                      </a:cubicBezTo>
                      <a:cubicBezTo>
                        <a:pt x="0" y="296"/>
                        <a:pt x="23" y="315"/>
                        <a:pt x="23" y="315"/>
                      </a:cubicBezTo>
                      <a:cubicBezTo>
                        <a:pt x="108" y="315"/>
                        <a:pt x="108" y="315"/>
                        <a:pt x="108" y="315"/>
                      </a:cubicBezTo>
                      <a:cubicBezTo>
                        <a:pt x="126" y="166"/>
                        <a:pt x="126" y="166"/>
                        <a:pt x="126" y="166"/>
                      </a:cubicBezTo>
                      <a:cubicBezTo>
                        <a:pt x="107" y="147"/>
                        <a:pt x="107" y="147"/>
                        <a:pt x="107" y="147"/>
                      </a:cubicBezTo>
                      <a:cubicBezTo>
                        <a:pt x="149" y="147"/>
                        <a:pt x="149" y="147"/>
                        <a:pt x="149" y="147"/>
                      </a:cubicBezTo>
                      <a:cubicBezTo>
                        <a:pt x="130" y="166"/>
                        <a:pt x="130" y="166"/>
                        <a:pt x="130" y="166"/>
                      </a:cubicBezTo>
                      <a:cubicBezTo>
                        <a:pt x="148" y="315"/>
                        <a:pt x="148" y="315"/>
                        <a:pt x="148" y="315"/>
                      </a:cubicBezTo>
                      <a:cubicBezTo>
                        <a:pt x="168" y="315"/>
                        <a:pt x="168" y="315"/>
                        <a:pt x="168" y="315"/>
                      </a:cubicBezTo>
                      <a:cubicBezTo>
                        <a:pt x="160" y="303"/>
                        <a:pt x="149" y="279"/>
                        <a:pt x="161" y="245"/>
                      </a:cubicBezTo>
                      <a:cubicBezTo>
                        <a:pt x="162" y="241"/>
                        <a:pt x="164" y="235"/>
                        <a:pt x="166" y="228"/>
                      </a:cubicBezTo>
                      <a:cubicBezTo>
                        <a:pt x="173" y="207"/>
                        <a:pt x="182" y="178"/>
                        <a:pt x="194" y="152"/>
                      </a:cubicBezTo>
                      <a:cubicBezTo>
                        <a:pt x="188" y="145"/>
                        <a:pt x="180" y="141"/>
                        <a:pt x="172" y="141"/>
                      </a:cubicBezTo>
                      <a:cubicBezTo>
                        <a:pt x="152" y="141"/>
                        <a:pt x="152" y="141"/>
                        <a:pt x="152" y="141"/>
                      </a:cubicBezTo>
                      <a:cubicBezTo>
                        <a:pt x="180" y="131"/>
                        <a:pt x="200" y="104"/>
                        <a:pt x="200" y="73"/>
                      </a:cubicBezTo>
                      <a:cubicBezTo>
                        <a:pt x="200" y="33"/>
                        <a:pt x="168" y="0"/>
                        <a:pt x="128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" name="Freeform 49">
                  <a:extLst>
                    <a:ext uri="{FF2B5EF4-FFF2-40B4-BE49-F238E27FC236}">
                      <a16:creationId xmlns:a16="http://schemas.microsoft.com/office/drawing/2014/main" id="{3733EA5E-0753-6AD4-AB76-C4973B105B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10" y="1871"/>
                  <a:ext cx="474" cy="750"/>
                </a:xfrm>
                <a:custGeom>
                  <a:avLst/>
                  <a:gdLst>
                    <a:gd name="T0" fmla="*/ 72 w 200"/>
                    <a:gd name="T1" fmla="*/ 0 h 315"/>
                    <a:gd name="T2" fmla="*/ 0 w 200"/>
                    <a:gd name="T3" fmla="*/ 73 h 315"/>
                    <a:gd name="T4" fmla="*/ 48 w 200"/>
                    <a:gd name="T5" fmla="*/ 141 h 315"/>
                    <a:gd name="T6" fmla="*/ 28 w 200"/>
                    <a:gd name="T7" fmla="*/ 141 h 315"/>
                    <a:gd name="T8" fmla="*/ 6 w 200"/>
                    <a:gd name="T9" fmla="*/ 152 h 315"/>
                    <a:gd name="T10" fmla="*/ 34 w 200"/>
                    <a:gd name="T11" fmla="*/ 228 h 315"/>
                    <a:gd name="T12" fmla="*/ 39 w 200"/>
                    <a:gd name="T13" fmla="*/ 245 h 315"/>
                    <a:gd name="T14" fmla="*/ 32 w 200"/>
                    <a:gd name="T15" fmla="*/ 315 h 315"/>
                    <a:gd name="T16" fmla="*/ 52 w 200"/>
                    <a:gd name="T17" fmla="*/ 315 h 315"/>
                    <a:gd name="T18" fmla="*/ 70 w 200"/>
                    <a:gd name="T19" fmla="*/ 166 h 315"/>
                    <a:gd name="T20" fmla="*/ 52 w 200"/>
                    <a:gd name="T21" fmla="*/ 147 h 315"/>
                    <a:gd name="T22" fmla="*/ 93 w 200"/>
                    <a:gd name="T23" fmla="*/ 147 h 315"/>
                    <a:gd name="T24" fmla="*/ 74 w 200"/>
                    <a:gd name="T25" fmla="*/ 166 h 315"/>
                    <a:gd name="T26" fmla="*/ 92 w 200"/>
                    <a:gd name="T27" fmla="*/ 315 h 315"/>
                    <a:gd name="T28" fmla="*/ 178 w 200"/>
                    <a:gd name="T29" fmla="*/ 315 h 315"/>
                    <a:gd name="T30" fmla="*/ 187 w 200"/>
                    <a:gd name="T31" fmla="*/ 261 h 315"/>
                    <a:gd name="T32" fmla="*/ 116 w 200"/>
                    <a:gd name="T33" fmla="*/ 141 h 315"/>
                    <a:gd name="T34" fmla="*/ 97 w 200"/>
                    <a:gd name="T35" fmla="*/ 141 h 315"/>
                    <a:gd name="T36" fmla="*/ 145 w 200"/>
                    <a:gd name="T37" fmla="*/ 73 h 315"/>
                    <a:gd name="T38" fmla="*/ 72 w 200"/>
                    <a:gd name="T39" fmla="*/ 0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0" h="315">
                      <a:moveTo>
                        <a:pt x="72" y="0"/>
                      </a:moveTo>
                      <a:cubicBezTo>
                        <a:pt x="32" y="0"/>
                        <a:pt x="0" y="33"/>
                        <a:pt x="0" y="73"/>
                      </a:cubicBezTo>
                      <a:cubicBezTo>
                        <a:pt x="0" y="104"/>
                        <a:pt x="20" y="131"/>
                        <a:pt x="48" y="141"/>
                      </a:cubicBezTo>
                      <a:cubicBezTo>
                        <a:pt x="28" y="141"/>
                        <a:pt x="28" y="141"/>
                        <a:pt x="28" y="141"/>
                      </a:cubicBezTo>
                      <a:cubicBezTo>
                        <a:pt x="20" y="141"/>
                        <a:pt x="13" y="145"/>
                        <a:pt x="6" y="152"/>
                      </a:cubicBezTo>
                      <a:cubicBezTo>
                        <a:pt x="18" y="178"/>
                        <a:pt x="27" y="207"/>
                        <a:pt x="34" y="228"/>
                      </a:cubicBezTo>
                      <a:cubicBezTo>
                        <a:pt x="36" y="235"/>
                        <a:pt x="38" y="241"/>
                        <a:pt x="39" y="245"/>
                      </a:cubicBezTo>
                      <a:cubicBezTo>
                        <a:pt x="52" y="279"/>
                        <a:pt x="40" y="303"/>
                        <a:pt x="32" y="315"/>
                      </a:cubicBezTo>
                      <a:cubicBezTo>
                        <a:pt x="52" y="315"/>
                        <a:pt x="52" y="315"/>
                        <a:pt x="52" y="315"/>
                      </a:cubicBezTo>
                      <a:cubicBezTo>
                        <a:pt x="70" y="166"/>
                        <a:pt x="70" y="166"/>
                        <a:pt x="70" y="166"/>
                      </a:cubicBezTo>
                      <a:cubicBezTo>
                        <a:pt x="52" y="147"/>
                        <a:pt x="52" y="147"/>
                        <a:pt x="52" y="147"/>
                      </a:cubicBezTo>
                      <a:cubicBezTo>
                        <a:pt x="93" y="147"/>
                        <a:pt x="93" y="147"/>
                        <a:pt x="93" y="147"/>
                      </a:cubicBezTo>
                      <a:cubicBezTo>
                        <a:pt x="74" y="166"/>
                        <a:pt x="74" y="166"/>
                        <a:pt x="74" y="166"/>
                      </a:cubicBezTo>
                      <a:cubicBezTo>
                        <a:pt x="92" y="315"/>
                        <a:pt x="92" y="315"/>
                        <a:pt x="92" y="315"/>
                      </a:cubicBezTo>
                      <a:cubicBezTo>
                        <a:pt x="178" y="315"/>
                        <a:pt x="178" y="315"/>
                        <a:pt x="178" y="315"/>
                      </a:cubicBezTo>
                      <a:cubicBezTo>
                        <a:pt x="178" y="315"/>
                        <a:pt x="200" y="296"/>
                        <a:pt x="187" y="261"/>
                      </a:cubicBezTo>
                      <a:cubicBezTo>
                        <a:pt x="179" y="238"/>
                        <a:pt x="156" y="141"/>
                        <a:pt x="116" y="141"/>
                      </a:cubicBezTo>
                      <a:cubicBezTo>
                        <a:pt x="97" y="141"/>
                        <a:pt x="97" y="141"/>
                        <a:pt x="97" y="141"/>
                      </a:cubicBezTo>
                      <a:cubicBezTo>
                        <a:pt x="125" y="131"/>
                        <a:pt x="145" y="104"/>
                        <a:pt x="145" y="73"/>
                      </a:cubicBezTo>
                      <a:cubicBezTo>
                        <a:pt x="145" y="33"/>
                        <a:pt x="112" y="0"/>
                        <a:pt x="72" y="0"/>
                      </a:cubicBezTo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6" name="Rectangle 68">
            <a:extLst>
              <a:ext uri="{FF2B5EF4-FFF2-40B4-BE49-F238E27FC236}">
                <a16:creationId xmlns:a16="http://schemas.microsoft.com/office/drawing/2014/main" id="{94EF333F-8194-9C1A-840E-22ACCCBB9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1892620"/>
            <a:ext cx="3744416" cy="103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000" b="1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持续优化系统提示信息，建立全面的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FAQ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10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持续优化监控，数据监控，服务健康监控等</a:t>
            </a:r>
            <a:endParaRPr lang="en-US" altLang="zh-CN" sz="1000" b="1" dirty="0">
              <a:solidFill>
                <a:srgbClr val="0032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10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进一步提高新需求开发质量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10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尝试使用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进行运维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500"/>
              </a:lnSpc>
            </a:pPr>
            <a:r>
              <a:rPr lang="en-US" altLang="zh-CN" sz="1000" b="1" dirty="0">
                <a:solidFill>
                  <a:srgbClr val="0032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按实际情况填写工时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8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3"/>
          <p:cNvSpPr>
            <a:spLocks noChangeArrowheads="1"/>
          </p:cNvSpPr>
          <p:nvPr/>
        </p:nvSpPr>
        <p:spPr bwMode="auto">
          <a:xfrm>
            <a:off x="770690" y="195486"/>
            <a:ext cx="765260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Impact" panose="020B0806030902050204" pitchFamily="34" charset="0"/>
              </a:rPr>
              <a:t>Q&amp;A</a:t>
            </a:r>
            <a:endParaRPr lang="zh-CN" alt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2375756" y="2391730"/>
            <a:ext cx="4392488" cy="360040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913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431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Write Your Title Her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7187;#40718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808;"/>
  <p:tag name="ISLIDE.PICTURE" val="#223217;"/>
  <p:tag name="ISLIDE.VECTOR" val="#431550;"/>
</p:tagLst>
</file>

<file path=ppt/theme/theme1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7610</TotalTime>
  <Words>776</Words>
  <Application>Microsoft Office PowerPoint</Application>
  <PresentationFormat>全屏显示(16:9)</PresentationFormat>
  <Paragraphs>103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阿里巴巴普惠体</vt:lpstr>
      <vt:lpstr>阿里巴巴普惠体 Bold</vt:lpstr>
      <vt:lpstr>方正兰亭大黑_GBK</vt:lpstr>
      <vt:lpstr>微软雅黑</vt:lpstr>
      <vt:lpstr>Arial</vt:lpstr>
      <vt:lpstr>Calibri</vt:lpstr>
      <vt:lpstr>Office 主题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subject>大侠素材铺</dc:subject>
  <dc:creator>大侠素材铺</dc:creator>
  <dc:description>大侠素材铺_x000d_
淘宝店：https://dxpu.taobao.com/</dc:description>
  <cp:lastModifiedBy>jone.ma(马耀飞)</cp:lastModifiedBy>
  <cp:revision>802</cp:revision>
  <dcterms:created xsi:type="dcterms:W3CDTF">2015-12-11T17:46:00Z</dcterms:created>
  <dcterms:modified xsi:type="dcterms:W3CDTF">2026-01-20T02:49:30Z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